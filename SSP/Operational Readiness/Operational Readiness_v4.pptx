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4"/>
  </p:sldMasterIdLst>
  <p:notesMasterIdLst>
    <p:notesMasterId r:id="rId20"/>
  </p:notesMasterIdLst>
  <p:handoutMasterIdLst>
    <p:handoutMasterId r:id="rId21"/>
  </p:handoutMasterIdLst>
  <p:sldIdLst>
    <p:sldId id="333" r:id="rId5"/>
    <p:sldId id="2147479588" r:id="rId6"/>
    <p:sldId id="2147479587" r:id="rId7"/>
    <p:sldId id="2147481972" r:id="rId8"/>
    <p:sldId id="336" r:id="rId9"/>
    <p:sldId id="2147481975" r:id="rId10"/>
    <p:sldId id="2147479581" r:id="rId11"/>
    <p:sldId id="2147479582" r:id="rId12"/>
    <p:sldId id="2147479583" r:id="rId13"/>
    <p:sldId id="2147479585" r:id="rId14"/>
    <p:sldId id="1144" r:id="rId15"/>
    <p:sldId id="2147481976" r:id="rId16"/>
    <p:sldId id="2147481974" r:id="rId17"/>
    <p:sldId id="2147479586" r:id="rId18"/>
    <p:sldId id="33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A3735F-3FE1-3F1D-D78C-E941C66B3EBA}" name="Hussain, Saqib (UK)" initials="SH" userId="S::saqhus01@protiviti.com::bea21c12-e77a-44b6-a4de-603904a2e7a8" providerId="AD"/>
  <p188:author id="{812D0A65-F9D7-66F0-106A-F4BD1715F354}" name="Holly Holt" initials="HH" userId="S::holly.holt@ssp-intl.com::d5125d4d-8165-4702-bd4d-bec06154aa7f" providerId="AD"/>
  <p188:author id="{E7DBBC71-5429-2D9F-4106-74521DE3A90C}" name="Julie Jourcin" initials="JJ" userId="S::Julie.Jourcin@ssp-intl.com::d20de062-e60a-4e44-b293-0b79c71fea43" providerId="AD"/>
  <p188:author id="{C3D27874-05C2-C3C9-48C4-7DF8EA7E8966}" name="John Bintu" initials="JB" userId="S::john.bintu@ssp-intl.com::f0de0fc1-29f6-4dc0-95cb-e60be13dcd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B16D1-5B40-41C2-8388-E03F0381E35A}" v="2" dt="2025-09-24T13:37:10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7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Vishal (UK)" userId="d1119f84-5306-4c90-8743-9452aafe4424" providerId="ADAL" clId="{8FFB16D1-5B40-41C2-8388-E03F0381E35A}"/>
    <pc:docChg chg="undo redo custSel modSld">
      <pc:chgData name="Gupta, Vishal (UK)" userId="d1119f84-5306-4c90-8743-9452aafe4424" providerId="ADAL" clId="{8FFB16D1-5B40-41C2-8388-E03F0381E35A}" dt="2025-09-24T13:38:30.361" v="105" actId="20577"/>
      <pc:docMkLst>
        <pc:docMk/>
      </pc:docMkLst>
      <pc:sldChg chg="modSp mod">
        <pc:chgData name="Gupta, Vishal (UK)" userId="d1119f84-5306-4c90-8743-9452aafe4424" providerId="ADAL" clId="{8FFB16D1-5B40-41C2-8388-E03F0381E35A}" dt="2025-09-24T13:38:30.361" v="105" actId="20577"/>
        <pc:sldMkLst>
          <pc:docMk/>
          <pc:sldMk cId="591039650" sldId="333"/>
        </pc:sldMkLst>
        <pc:spChg chg="mod">
          <ac:chgData name="Gupta, Vishal (UK)" userId="d1119f84-5306-4c90-8743-9452aafe4424" providerId="ADAL" clId="{8FFB16D1-5B40-41C2-8388-E03F0381E35A}" dt="2025-09-24T13:38:30.361" v="105" actId="20577"/>
          <ac:spMkLst>
            <pc:docMk/>
            <pc:sldMk cId="591039650" sldId="333"/>
            <ac:spMk id="2" creationId="{882FE992-53E0-B3DB-D442-271998B71D01}"/>
          </ac:spMkLst>
        </pc:spChg>
      </pc:sldChg>
      <pc:sldChg chg="modSp mod">
        <pc:chgData name="Gupta, Vishal (UK)" userId="d1119f84-5306-4c90-8743-9452aafe4424" providerId="ADAL" clId="{8FFB16D1-5B40-41C2-8388-E03F0381E35A}" dt="2025-09-24T12:53:59.276" v="91" actId="20577"/>
        <pc:sldMkLst>
          <pc:docMk/>
          <pc:sldMk cId="3423755808" sldId="2147479586"/>
        </pc:sldMkLst>
        <pc:spChg chg="mod">
          <ac:chgData name="Gupta, Vishal (UK)" userId="d1119f84-5306-4c90-8743-9452aafe4424" providerId="ADAL" clId="{8FFB16D1-5B40-41C2-8388-E03F0381E35A}" dt="2025-09-24T12:53:59.276" v="91" actId="20577"/>
          <ac:spMkLst>
            <pc:docMk/>
            <pc:sldMk cId="3423755808" sldId="2147479586"/>
            <ac:spMk id="41" creationId="{63A5DF49-9647-E302-BB5E-80EDB608A8B6}"/>
          </ac:spMkLst>
        </pc:spChg>
      </pc:sldChg>
      <pc:sldChg chg="modSp mod">
        <pc:chgData name="Gupta, Vishal (UK)" userId="d1119f84-5306-4c90-8743-9452aafe4424" providerId="ADAL" clId="{8FFB16D1-5B40-41C2-8388-E03F0381E35A}" dt="2025-09-24T05:46:30.893" v="86" actId="20577"/>
        <pc:sldMkLst>
          <pc:docMk/>
          <pc:sldMk cId="2117977892" sldId="2147479587"/>
        </pc:sldMkLst>
        <pc:graphicFrameChg chg="modGraphic">
          <ac:chgData name="Gupta, Vishal (UK)" userId="d1119f84-5306-4c90-8743-9452aafe4424" providerId="ADAL" clId="{8FFB16D1-5B40-41C2-8388-E03F0381E35A}" dt="2025-09-24T05:46:30.893" v="86" actId="20577"/>
          <ac:graphicFrameMkLst>
            <pc:docMk/>
            <pc:sldMk cId="2117977892" sldId="2147479587"/>
            <ac:graphicFrameMk id="3" creationId="{5A60B066-B878-8683-39AC-5C42366ED50C}"/>
          </ac:graphicFrameMkLst>
        </pc:graphicFrameChg>
      </pc:sldChg>
      <pc:sldChg chg="modSp mod">
        <pc:chgData name="Gupta, Vishal (UK)" userId="d1119f84-5306-4c90-8743-9452aafe4424" providerId="ADAL" clId="{8FFB16D1-5B40-41C2-8388-E03F0381E35A}" dt="2025-09-24T13:37:23.061" v="102" actId="255"/>
        <pc:sldMkLst>
          <pc:docMk/>
          <pc:sldMk cId="1384255896" sldId="2147481976"/>
        </pc:sldMkLst>
        <pc:graphicFrameChg chg="mod modGraphic">
          <ac:chgData name="Gupta, Vishal (UK)" userId="d1119f84-5306-4c90-8743-9452aafe4424" providerId="ADAL" clId="{8FFB16D1-5B40-41C2-8388-E03F0381E35A}" dt="2025-09-24T13:37:23.061" v="102" actId="255"/>
          <ac:graphicFrameMkLst>
            <pc:docMk/>
            <pc:sldMk cId="1384255896" sldId="2147481976"/>
            <ac:graphicFrameMk id="9" creationId="{2BC0F352-D29A-3285-0A68-90687C7CA4C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B66B8C-0A7D-A259-F232-88D1182404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42ACC-64C6-5B98-92A7-E39F55179D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66B3B-3A60-894D-9F3E-C9DB97CACC8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CD17B-63A4-CF07-1D76-435A07A9CA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F2A16-B992-CA57-F187-7A06957AD2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28E00-A375-0E43-9461-DEB43398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8317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04DF7-5133-9B41-8B7B-6DE0A519750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B65A8-2222-FE45-B958-BCA1551D1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1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1872F-C985-6AE5-968C-D862EC9D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3481B-794F-27FF-97C5-584DF2195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DC3AC-6C79-1A4F-355D-7F3914582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1972-6CBB-2BFA-4BEF-AB12B2284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50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C855-D390-849A-E5D7-3B98C2E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B974B-7AC8-C768-DAA4-106A06A53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6930B-FAE0-3C96-9ABF-AF44A1A36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12476-FC3C-9E45-B9E7-1408B180A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1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194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EDD7E1-FB12-45B3-AA3A-5602C7A1CF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5194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531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23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4AB0-4DB0-B465-B543-2F990142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3D8A2-355F-4808-6878-924AE3B7D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292F8-0866-3956-4704-FB8ACCE92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BF4FC-6D6C-937F-3B24-81A381950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34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F8124-1D19-4A2F-23E3-5CAB0923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FECB9-590D-39C0-AD4D-14DD6EC3B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283CD-FEC0-4EAA-C3D0-264E8F607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93FB0-F0E2-FC08-5CAC-B88DC0EF6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77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8F44-AD1B-8B9F-7F48-7758C715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E16D5-E98E-BD91-4611-9F8DABD49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FA8E3-7AEE-1F6D-8419-2C8F8766A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1E8B-1EAA-5AA8-B7DB-3F36C625A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92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0FB6-8E88-2DAE-D42B-13AB8711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A966E-87B3-47AB-B2EA-80A27BAAD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DEB99-0E67-5D67-887C-77214CC1E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54E4E-B40E-76F3-D182-26CA7EADF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86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83B11-F32E-536E-9CE9-E8ACE1E8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904C7-BF73-B919-AE39-5D65606E5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9E6B1-350F-467E-805E-3E02A2D10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3FAB5-604B-C367-1F95-609722D7F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5E9C9F-7248-479D-8A5B-65BB465EA57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7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C31E-47EF-9637-ABDF-48E091CC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F0590-15CA-E390-8930-7C43EEEE8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C29A2-E390-4687-DF3E-A87C1BC45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33286-6AFC-6800-ED7E-829F24600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51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EF3B2-335B-D7B5-BF91-3F39A0DDF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79440-8C56-ADE2-F262-34C9A18AD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98A97-686E-ECE1-CD0B-A5F5088E1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C4A65-0FC7-ECFF-BBA2-9B3551ABB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46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EE08B-B6EA-DDEF-D432-244534A5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1DFA6-488A-AAAE-63D8-F6F3B6E9D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D234A-01D2-3175-D692-977FCC655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D7EBC-2E17-F8F2-31D5-139140600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B65A8-2222-FE45-B958-BCA1551D12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63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full_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ng hallway with rows of computer servers&#10;&#10;AI-generated content may be incorrect.">
            <a:extLst>
              <a:ext uri="{FF2B5EF4-FFF2-40B4-BE49-F238E27FC236}">
                <a16:creationId xmlns:a16="http://schemas.microsoft.com/office/drawing/2014/main" id="{D6329030-A0E5-B190-D627-ECA6D792D98F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t="7802" b="7802"/>
          <a:stretch/>
        </p:blipFill>
        <p:spPr>
          <a:xfrm>
            <a:off x="0" y="0"/>
            <a:ext cx="12192000" cy="68593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4BA18F-8823-3FF3-A7DC-D91929DEAD9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9392"/>
          </a:xfrm>
          <a:prstGeom prst="rect">
            <a:avLst/>
          </a:prstGeom>
          <a:solidFill>
            <a:schemeClr val="tx1">
              <a:alpha val="4363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049824-5B61-1C05-BAD4-67BDD7752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952" y="5433652"/>
            <a:ext cx="2007349" cy="738553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A886E4-A129-F033-3A70-57334D3F95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277" y="1713297"/>
            <a:ext cx="9054571" cy="161620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6000"/>
              </a:lnSpc>
              <a:spcBef>
                <a:spcPts val="0"/>
              </a:spcBef>
              <a:buNone/>
              <a:defRPr sz="5401" b="0" i="0" cap="all" baseline="0">
                <a:solidFill>
                  <a:schemeClr val="bg1"/>
                </a:solidFill>
                <a:latin typeface="Barlow Condensed Medium" pitchFamily="2" charset="77"/>
              </a:defRPr>
            </a:lvl1pPr>
            <a:lvl2pPr marL="457189" indent="0">
              <a:buNone/>
              <a:defRPr>
                <a:latin typeface="Barlow Condensed Medium" pitchFamily="2" charset="77"/>
              </a:defRPr>
            </a:lvl2pPr>
            <a:lvl3pPr marL="914377" indent="0">
              <a:buNone/>
              <a:defRPr>
                <a:latin typeface="Barlow Condensed Medium" pitchFamily="2" charset="77"/>
              </a:defRPr>
            </a:lvl3pPr>
            <a:lvl4pPr marL="1371567" indent="0">
              <a:buNone/>
              <a:defRPr>
                <a:latin typeface="Barlow Condensed Medium" pitchFamily="2" charset="77"/>
              </a:defRPr>
            </a:lvl4pPr>
            <a:lvl5pPr marL="1828755" indent="0">
              <a:buNone/>
              <a:defRPr>
                <a:latin typeface="Barlow Condensed Medium" pitchFamily="2" charset="77"/>
              </a:defRPr>
            </a:lvl5pPr>
          </a:lstStyle>
          <a:p>
            <a:pPr lvl="0"/>
            <a:r>
              <a:rPr lang="en-GB"/>
              <a:t>Click to edit title page header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327542C-D5B0-D176-BCC3-9E0BF4830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7" y="3556003"/>
            <a:ext cx="6514571" cy="2878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601"/>
              </a:spcAft>
              <a:buNone/>
              <a:defRPr sz="180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7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page subtitle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9F5150-B051-816D-2139-9CD54E575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3277" y="3935582"/>
            <a:ext cx="6514571" cy="2878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601"/>
              </a:spcAft>
              <a:buNone/>
              <a:defRPr sz="180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7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date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5D3F61C-5B14-0814-26E2-E0A275591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3276" y="5434015"/>
            <a:ext cx="1985104" cy="738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partner logo (optional)</a:t>
            </a:r>
          </a:p>
        </p:txBody>
      </p:sp>
    </p:spTree>
    <p:extLst>
      <p:ext uri="{BB962C8B-B14F-4D97-AF65-F5344CB8AC3E}">
        <p14:creationId xmlns:p14="http://schemas.microsoft.com/office/powerpoint/2010/main" val="2641794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7175">
          <p15:clr>
            <a:srgbClr val="FBAE40"/>
          </p15:clr>
        </p15:guide>
        <p15:guide id="5" pos="50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_of_Content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ue and orange lines&#10;&#10;Description automatically generated with low confidence">
            <a:extLst>
              <a:ext uri="{FF2B5EF4-FFF2-40B4-BE49-F238E27FC236}">
                <a16:creationId xmlns:a16="http://schemas.microsoft.com/office/drawing/2014/main" id="{501E2C01-EC78-17A1-508B-E71F6639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699" y="1"/>
            <a:ext cx="7881934" cy="687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7D164A-1C7C-A296-E05E-D4D0CA9D70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1503" y="6413767"/>
            <a:ext cx="809950" cy="2419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886F1D4-C0CC-00D9-20A0-3A020C14C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4" y="584202"/>
            <a:ext cx="11012485" cy="443201"/>
          </a:xfrm>
        </p:spPr>
        <p:txBody>
          <a:bodyPr/>
          <a:lstStyle/>
          <a:p>
            <a:r>
              <a:rPr lang="en-GB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92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F7D164A-1C7C-A296-E05E-D4D0CA9D70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1503" y="6413767"/>
            <a:ext cx="809950" cy="2419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A599A-E7C1-964D-37B8-39E4DC88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27F37-4D97-F84C-9FA0-B0298962BDC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9D2EF-D980-C749-ECB1-1B4C63C9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202"/>
            <a:ext cx="11014075" cy="44320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46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68">
          <p15:clr>
            <a:srgbClr val="FBAE40"/>
          </p15:clr>
        </p15:guide>
        <p15:guide id="6" orient="horz" pos="86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P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D02CD4E-A89D-28FF-D982-67A9AD257F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793" y="-8792"/>
            <a:ext cx="12224000" cy="687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049824-5B61-1C05-BAD4-67BDD775242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9848" y="5846323"/>
            <a:ext cx="1573138" cy="578796"/>
          </a:xfrm>
          <a:prstGeom prst="rect">
            <a:avLst/>
          </a:prstGeom>
        </p:spPr>
      </p:pic>
      <p:pic>
        <p:nvPicPr>
          <p:cNvPr id="3" name="Picture 2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FD4D68D8-A464-2E44-4BA0-803BBEDAAA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53" y="2391511"/>
            <a:ext cx="5695797" cy="1239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9FC1A0-186C-6B04-9097-D08DACC63BB1}"/>
              </a:ext>
            </a:extLst>
          </p:cNvPr>
          <p:cNvSpPr txBox="1"/>
          <p:nvPr/>
        </p:nvSpPr>
        <p:spPr>
          <a:xfrm>
            <a:off x="804863" y="6117344"/>
            <a:ext cx="6104985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U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 Protiviti – Confidential. An Equal Opportunity Employer M/F/Disability/Veterans. Protiviti is not licensed or registered as a public accounting firm and does not issue opinions on financial statements or offer attestation services. All registered trademarks are the property of their respective owners.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B71190-15D1-87CC-9064-A44000A16889}"/>
              </a:ext>
            </a:extLst>
          </p:cNvPr>
          <p:cNvSpPr txBox="1"/>
          <p:nvPr userDrawn="1"/>
        </p:nvSpPr>
        <p:spPr>
          <a:xfrm>
            <a:off x="200359" y="6541999"/>
            <a:ext cx="232756" cy="1232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1">
                <a:solidFill>
                  <a:srgbClr val="10395C"/>
                </a:solidFill>
              </a:rPr>
              <a:t>v.30</a:t>
            </a:r>
          </a:p>
        </p:txBody>
      </p:sp>
    </p:spTree>
    <p:extLst>
      <p:ext uri="{BB962C8B-B14F-4D97-AF65-F5344CB8AC3E}">
        <p14:creationId xmlns:p14="http://schemas.microsoft.com/office/powerpoint/2010/main" val="173506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07">
          <p15:clr>
            <a:srgbClr val="FBAE40"/>
          </p15:clr>
        </p15:guide>
        <p15:guide id="4" pos="717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Layout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F64F11EB-5270-46E9-91A5-EBECBDF203BD}"/>
              </a:ext>
            </a:extLst>
          </p:cNvPr>
          <p:cNvSpPr/>
          <p:nvPr/>
        </p:nvSpPr>
        <p:spPr>
          <a:xfrm>
            <a:off x="0" y="2"/>
            <a:ext cx="12192000" cy="956412"/>
          </a:xfrm>
          <a:prstGeom prst="rect">
            <a:avLst/>
          </a:prstGeom>
          <a:gradFill flip="none" rotWithShape="1">
            <a:gsLst>
              <a:gs pos="99000">
                <a:srgbClr val="356B86"/>
              </a:gs>
              <a:gs pos="0">
                <a:srgbClr val="21C5D8"/>
              </a:gs>
            </a:gsLst>
            <a:lin ang="0" scaled="1"/>
            <a:tileRect/>
          </a:gradFill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189" indent="-457189" algn="l">
              <a:spcAft>
                <a:spcPts val="0"/>
              </a:spcAft>
              <a:buClr>
                <a:srgbClr val="02BDD2"/>
              </a:buClr>
              <a:buFont typeface="+mj-lt"/>
              <a:buAutoNum type="arabicPeriod"/>
            </a:pPr>
            <a:endParaRPr lang="pt-BR" sz="1467" b="1" kern="1200" dirty="0" err="1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DD905E8E-69B7-489E-AA2F-A37BAE392A5B}"/>
              </a:ext>
            </a:extLst>
          </p:cNvPr>
          <p:cNvSpPr/>
          <p:nvPr/>
        </p:nvSpPr>
        <p:spPr>
          <a:xfrm>
            <a:off x="957" y="-8033"/>
            <a:ext cx="10587618" cy="981381"/>
          </a:xfrm>
          <a:custGeom>
            <a:avLst/>
            <a:gdLst>
              <a:gd name="connsiteX0" fmla="*/ 7550910 w 7676384"/>
              <a:gd name="connsiteY0" fmla="*/ 0 h 1055945"/>
              <a:gd name="connsiteX1" fmla="*/ 7062287 w 7676384"/>
              <a:gd name="connsiteY1" fmla="*/ 961128 h 1055945"/>
              <a:gd name="connsiteX2" fmla="*/ 0 w 7676384"/>
              <a:gd name="connsiteY2" fmla="*/ 961128 h 1055945"/>
              <a:gd name="connsiteX3" fmla="*/ 0 w 7676384"/>
              <a:gd name="connsiteY3" fmla="*/ 1055945 h 1055945"/>
              <a:gd name="connsiteX4" fmla="*/ 7139405 w 7676384"/>
              <a:gd name="connsiteY4" fmla="*/ 1055945 h 1055945"/>
              <a:gd name="connsiteX5" fmla="*/ 7676385 w 7676384"/>
              <a:gd name="connsiteY5" fmla="*/ 0 h 1055945"/>
              <a:gd name="connsiteX0" fmla="*/ 7550910 w 7676385"/>
              <a:gd name="connsiteY0" fmla="*/ 0 h 1055945"/>
              <a:gd name="connsiteX1" fmla="*/ 7062287 w 7676385"/>
              <a:gd name="connsiteY1" fmla="*/ 961128 h 1055945"/>
              <a:gd name="connsiteX2" fmla="*/ 0 w 7676385"/>
              <a:gd name="connsiteY2" fmla="*/ 961128 h 1055945"/>
              <a:gd name="connsiteX3" fmla="*/ 1256386 w 7676385"/>
              <a:gd name="connsiteY3" fmla="*/ 1055945 h 1055945"/>
              <a:gd name="connsiteX4" fmla="*/ 7139405 w 7676385"/>
              <a:gd name="connsiteY4" fmla="*/ 1055945 h 1055945"/>
              <a:gd name="connsiteX5" fmla="*/ 7676385 w 7676385"/>
              <a:gd name="connsiteY5" fmla="*/ 0 h 1055945"/>
              <a:gd name="connsiteX6" fmla="*/ 7550910 w 7676385"/>
              <a:gd name="connsiteY6" fmla="*/ 0 h 1055945"/>
              <a:gd name="connsiteX0" fmla="*/ 6294524 w 6419999"/>
              <a:gd name="connsiteY0" fmla="*/ 0 h 1055945"/>
              <a:gd name="connsiteX1" fmla="*/ 5805901 w 6419999"/>
              <a:gd name="connsiteY1" fmla="*/ 961128 h 1055945"/>
              <a:gd name="connsiteX2" fmla="*/ 8507 w 6419999"/>
              <a:gd name="connsiteY2" fmla="*/ 961128 h 1055945"/>
              <a:gd name="connsiteX3" fmla="*/ 0 w 6419999"/>
              <a:gd name="connsiteY3" fmla="*/ 1055945 h 1055945"/>
              <a:gd name="connsiteX4" fmla="*/ 5883019 w 6419999"/>
              <a:gd name="connsiteY4" fmla="*/ 1055945 h 1055945"/>
              <a:gd name="connsiteX5" fmla="*/ 6419999 w 6419999"/>
              <a:gd name="connsiteY5" fmla="*/ 0 h 1055945"/>
              <a:gd name="connsiteX6" fmla="*/ 6294524 w 6419999"/>
              <a:gd name="connsiteY6" fmla="*/ 0 h 1055945"/>
              <a:gd name="connsiteX0" fmla="*/ 6294525 w 6420000"/>
              <a:gd name="connsiteY0" fmla="*/ 0 h 1055945"/>
              <a:gd name="connsiteX1" fmla="*/ 5805902 w 6420000"/>
              <a:gd name="connsiteY1" fmla="*/ 961128 h 1055945"/>
              <a:gd name="connsiteX2" fmla="*/ 0 w 6420000"/>
              <a:gd name="connsiteY2" fmla="*/ 957670 h 1055945"/>
              <a:gd name="connsiteX3" fmla="*/ 1 w 6420000"/>
              <a:gd name="connsiteY3" fmla="*/ 1055945 h 1055945"/>
              <a:gd name="connsiteX4" fmla="*/ 5883020 w 6420000"/>
              <a:gd name="connsiteY4" fmla="*/ 1055945 h 1055945"/>
              <a:gd name="connsiteX5" fmla="*/ 6420000 w 6420000"/>
              <a:gd name="connsiteY5" fmla="*/ 0 h 1055945"/>
              <a:gd name="connsiteX6" fmla="*/ 6294525 w 6420000"/>
              <a:gd name="connsiteY6" fmla="*/ 0 h 1055945"/>
              <a:gd name="connsiteX0" fmla="*/ 8960443 w 9085918"/>
              <a:gd name="connsiteY0" fmla="*/ 0 h 1055945"/>
              <a:gd name="connsiteX1" fmla="*/ 8471820 w 9085918"/>
              <a:gd name="connsiteY1" fmla="*/ 961128 h 1055945"/>
              <a:gd name="connsiteX2" fmla="*/ 2665918 w 9085918"/>
              <a:gd name="connsiteY2" fmla="*/ 957670 h 1055945"/>
              <a:gd name="connsiteX3" fmla="*/ 0 w 9085918"/>
              <a:gd name="connsiteY3" fmla="*/ 1052443 h 1055945"/>
              <a:gd name="connsiteX4" fmla="*/ 8548938 w 9085918"/>
              <a:gd name="connsiteY4" fmla="*/ 1055945 h 1055945"/>
              <a:gd name="connsiteX5" fmla="*/ 9085918 w 9085918"/>
              <a:gd name="connsiteY5" fmla="*/ 0 h 1055945"/>
              <a:gd name="connsiteX6" fmla="*/ 8960443 w 9085918"/>
              <a:gd name="connsiteY6" fmla="*/ 0 h 1055945"/>
              <a:gd name="connsiteX0" fmla="*/ 9331970 w 9457445"/>
              <a:gd name="connsiteY0" fmla="*/ 0 h 1055945"/>
              <a:gd name="connsiteX1" fmla="*/ 8843347 w 9457445"/>
              <a:gd name="connsiteY1" fmla="*/ 961128 h 1055945"/>
              <a:gd name="connsiteX2" fmla="*/ 3037445 w 9457445"/>
              <a:gd name="connsiteY2" fmla="*/ 957670 h 1055945"/>
              <a:gd name="connsiteX3" fmla="*/ 0 w 9457445"/>
              <a:gd name="connsiteY3" fmla="*/ 1055945 h 1055945"/>
              <a:gd name="connsiteX4" fmla="*/ 8920465 w 9457445"/>
              <a:gd name="connsiteY4" fmla="*/ 1055945 h 1055945"/>
              <a:gd name="connsiteX5" fmla="*/ 9457445 w 9457445"/>
              <a:gd name="connsiteY5" fmla="*/ 0 h 1055945"/>
              <a:gd name="connsiteX6" fmla="*/ 9331970 w 9457445"/>
              <a:gd name="connsiteY6" fmla="*/ 0 h 1055945"/>
              <a:gd name="connsiteX0" fmla="*/ 9343316 w 9468791"/>
              <a:gd name="connsiteY0" fmla="*/ 0 h 1055945"/>
              <a:gd name="connsiteX1" fmla="*/ 8854693 w 9468791"/>
              <a:gd name="connsiteY1" fmla="*/ 961128 h 1055945"/>
              <a:gd name="connsiteX2" fmla="*/ 0 w 9468791"/>
              <a:gd name="connsiteY2" fmla="*/ 954167 h 1055945"/>
              <a:gd name="connsiteX3" fmla="*/ 11346 w 9468791"/>
              <a:gd name="connsiteY3" fmla="*/ 1055945 h 1055945"/>
              <a:gd name="connsiteX4" fmla="*/ 8931811 w 9468791"/>
              <a:gd name="connsiteY4" fmla="*/ 1055945 h 1055945"/>
              <a:gd name="connsiteX5" fmla="*/ 9468791 w 9468791"/>
              <a:gd name="connsiteY5" fmla="*/ 0 h 1055945"/>
              <a:gd name="connsiteX6" fmla="*/ 9343316 w 9468791"/>
              <a:gd name="connsiteY6" fmla="*/ 0 h 1055945"/>
              <a:gd name="connsiteX0" fmla="*/ 9331972 w 9457447"/>
              <a:gd name="connsiteY0" fmla="*/ 0 h 1055945"/>
              <a:gd name="connsiteX1" fmla="*/ 8843349 w 9457447"/>
              <a:gd name="connsiteY1" fmla="*/ 961128 h 1055945"/>
              <a:gd name="connsiteX2" fmla="*/ 0 w 9457447"/>
              <a:gd name="connsiteY2" fmla="*/ 957670 h 1055945"/>
              <a:gd name="connsiteX3" fmla="*/ 2 w 9457447"/>
              <a:gd name="connsiteY3" fmla="*/ 1055945 h 1055945"/>
              <a:gd name="connsiteX4" fmla="*/ 8920467 w 9457447"/>
              <a:gd name="connsiteY4" fmla="*/ 1055945 h 1055945"/>
              <a:gd name="connsiteX5" fmla="*/ 9457447 w 9457447"/>
              <a:gd name="connsiteY5" fmla="*/ 0 h 1055945"/>
              <a:gd name="connsiteX6" fmla="*/ 9331972 w 9457447"/>
              <a:gd name="connsiteY6" fmla="*/ 0 h 1055945"/>
              <a:gd name="connsiteX0" fmla="*/ 9337641 w 9463116"/>
              <a:gd name="connsiteY0" fmla="*/ 0 h 1055945"/>
              <a:gd name="connsiteX1" fmla="*/ 8849018 w 9463116"/>
              <a:gd name="connsiteY1" fmla="*/ 961128 h 1055945"/>
              <a:gd name="connsiteX2" fmla="*/ 5669 w 9463116"/>
              <a:gd name="connsiteY2" fmla="*/ 957670 h 1055945"/>
              <a:gd name="connsiteX3" fmla="*/ 0 w 9463116"/>
              <a:gd name="connsiteY3" fmla="*/ 1055945 h 1055945"/>
              <a:gd name="connsiteX4" fmla="*/ 8926136 w 9463116"/>
              <a:gd name="connsiteY4" fmla="*/ 1055945 h 1055945"/>
              <a:gd name="connsiteX5" fmla="*/ 9463116 w 9463116"/>
              <a:gd name="connsiteY5" fmla="*/ 0 h 1055945"/>
              <a:gd name="connsiteX6" fmla="*/ 9337641 w 9463116"/>
              <a:gd name="connsiteY6" fmla="*/ 0 h 1055945"/>
              <a:gd name="connsiteX0" fmla="*/ 9340480 w 9465955"/>
              <a:gd name="connsiteY0" fmla="*/ 0 h 1055945"/>
              <a:gd name="connsiteX1" fmla="*/ 8851857 w 9465955"/>
              <a:gd name="connsiteY1" fmla="*/ 961128 h 1055945"/>
              <a:gd name="connsiteX2" fmla="*/ 0 w 9465955"/>
              <a:gd name="connsiteY2" fmla="*/ 957670 h 1055945"/>
              <a:gd name="connsiteX3" fmla="*/ 2839 w 9465955"/>
              <a:gd name="connsiteY3" fmla="*/ 1055945 h 1055945"/>
              <a:gd name="connsiteX4" fmla="*/ 8928975 w 9465955"/>
              <a:gd name="connsiteY4" fmla="*/ 1055945 h 1055945"/>
              <a:gd name="connsiteX5" fmla="*/ 9465955 w 9465955"/>
              <a:gd name="connsiteY5" fmla="*/ 0 h 1055945"/>
              <a:gd name="connsiteX6" fmla="*/ 9340480 w 9465955"/>
              <a:gd name="connsiteY6" fmla="*/ 0 h 1055945"/>
              <a:gd name="connsiteX0" fmla="*/ 9337641 w 9463116"/>
              <a:gd name="connsiteY0" fmla="*/ 0 h 1055945"/>
              <a:gd name="connsiteX1" fmla="*/ 8849018 w 9463116"/>
              <a:gd name="connsiteY1" fmla="*/ 961128 h 1055945"/>
              <a:gd name="connsiteX2" fmla="*/ 5670 w 9463116"/>
              <a:gd name="connsiteY2" fmla="*/ 957670 h 1055945"/>
              <a:gd name="connsiteX3" fmla="*/ 0 w 9463116"/>
              <a:gd name="connsiteY3" fmla="*/ 1055945 h 1055945"/>
              <a:gd name="connsiteX4" fmla="*/ 8926136 w 9463116"/>
              <a:gd name="connsiteY4" fmla="*/ 1055945 h 1055945"/>
              <a:gd name="connsiteX5" fmla="*/ 9463116 w 9463116"/>
              <a:gd name="connsiteY5" fmla="*/ 0 h 1055945"/>
              <a:gd name="connsiteX6" fmla="*/ 9337641 w 9463116"/>
              <a:gd name="connsiteY6" fmla="*/ 0 h 1055945"/>
              <a:gd name="connsiteX0" fmla="*/ 9331971 w 9457446"/>
              <a:gd name="connsiteY0" fmla="*/ 0 h 1055945"/>
              <a:gd name="connsiteX1" fmla="*/ 8843348 w 9457446"/>
              <a:gd name="connsiteY1" fmla="*/ 961128 h 1055945"/>
              <a:gd name="connsiteX2" fmla="*/ 0 w 9457446"/>
              <a:gd name="connsiteY2" fmla="*/ 957670 h 1055945"/>
              <a:gd name="connsiteX3" fmla="*/ 3 w 9457446"/>
              <a:gd name="connsiteY3" fmla="*/ 1052443 h 1055945"/>
              <a:gd name="connsiteX4" fmla="*/ 8920466 w 9457446"/>
              <a:gd name="connsiteY4" fmla="*/ 1055945 h 1055945"/>
              <a:gd name="connsiteX5" fmla="*/ 9457446 w 9457446"/>
              <a:gd name="connsiteY5" fmla="*/ 0 h 1055945"/>
              <a:gd name="connsiteX6" fmla="*/ 9331971 w 9457446"/>
              <a:gd name="connsiteY6" fmla="*/ 0 h 105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57446" h="1055945">
                <a:moveTo>
                  <a:pt x="9331971" y="0"/>
                </a:moveTo>
                <a:lnTo>
                  <a:pt x="8843348" y="961128"/>
                </a:lnTo>
                <a:lnTo>
                  <a:pt x="0" y="957670"/>
                </a:lnTo>
                <a:cubicBezTo>
                  <a:pt x="0" y="990428"/>
                  <a:pt x="3" y="1019685"/>
                  <a:pt x="3" y="1052443"/>
                </a:cubicBezTo>
                <a:lnTo>
                  <a:pt x="8920466" y="1055945"/>
                </a:lnTo>
                <a:lnTo>
                  <a:pt x="9457446" y="0"/>
                </a:lnTo>
                <a:lnTo>
                  <a:pt x="9331971" y="0"/>
                </a:lnTo>
                <a:close/>
              </a:path>
            </a:pathLst>
          </a:custGeom>
          <a:solidFill>
            <a:schemeClr val="bg1"/>
          </a:solidFill>
          <a:ln w="315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2400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3304AB9D-3CD6-42D3-87A2-10CAE6ABE192}"/>
              </a:ext>
            </a:extLst>
          </p:cNvPr>
          <p:cNvSpPr/>
          <p:nvPr/>
        </p:nvSpPr>
        <p:spPr>
          <a:xfrm>
            <a:off x="10427937" y="-8034"/>
            <a:ext cx="741619" cy="981380"/>
          </a:xfrm>
          <a:custGeom>
            <a:avLst/>
            <a:gdLst>
              <a:gd name="connsiteX0" fmla="*/ 125475 w 662454"/>
              <a:gd name="connsiteY0" fmla="*/ 1055945 h 1055945"/>
              <a:gd name="connsiteX1" fmla="*/ 662455 w 662454"/>
              <a:gd name="connsiteY1" fmla="*/ 0 h 1055945"/>
              <a:gd name="connsiteX2" fmla="*/ 536981 w 662454"/>
              <a:gd name="connsiteY2" fmla="*/ 0 h 1055945"/>
              <a:gd name="connsiteX3" fmla="*/ 0 w 662454"/>
              <a:gd name="connsiteY3" fmla="*/ 1055945 h 105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2454" h="1055945">
                <a:moveTo>
                  <a:pt x="125475" y="1055945"/>
                </a:moveTo>
                <a:lnTo>
                  <a:pt x="662455" y="0"/>
                </a:lnTo>
                <a:lnTo>
                  <a:pt x="536981" y="0"/>
                </a:lnTo>
                <a:lnTo>
                  <a:pt x="0" y="1055945"/>
                </a:lnTo>
                <a:close/>
              </a:path>
            </a:pathLst>
          </a:custGeom>
          <a:solidFill>
            <a:schemeClr val="bg1"/>
          </a:solidFill>
          <a:ln w="315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240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F4D5E9E5-9A15-4CCA-A6E3-5A64F527B03C}"/>
              </a:ext>
            </a:extLst>
          </p:cNvPr>
          <p:cNvSpPr/>
          <p:nvPr/>
        </p:nvSpPr>
        <p:spPr>
          <a:xfrm>
            <a:off x="10143108" y="-8034"/>
            <a:ext cx="741972" cy="981380"/>
          </a:xfrm>
          <a:custGeom>
            <a:avLst/>
            <a:gdLst>
              <a:gd name="connsiteX0" fmla="*/ 125475 w 662770"/>
              <a:gd name="connsiteY0" fmla="*/ 1055945 h 1055945"/>
              <a:gd name="connsiteX1" fmla="*/ 662771 w 662770"/>
              <a:gd name="connsiteY1" fmla="*/ 0 h 1055945"/>
              <a:gd name="connsiteX2" fmla="*/ 537296 w 662770"/>
              <a:gd name="connsiteY2" fmla="*/ 0 h 1055945"/>
              <a:gd name="connsiteX3" fmla="*/ 0 w 662770"/>
              <a:gd name="connsiteY3" fmla="*/ 1055945 h 105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2770" h="1055945">
                <a:moveTo>
                  <a:pt x="125475" y="1055945"/>
                </a:moveTo>
                <a:lnTo>
                  <a:pt x="662771" y="0"/>
                </a:lnTo>
                <a:lnTo>
                  <a:pt x="537296" y="0"/>
                </a:lnTo>
                <a:lnTo>
                  <a:pt x="0" y="1055945"/>
                </a:lnTo>
                <a:close/>
              </a:path>
            </a:pathLst>
          </a:custGeom>
          <a:solidFill>
            <a:schemeClr val="bg1"/>
          </a:solidFill>
          <a:ln w="315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24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F665AD6-81F3-45ED-8842-195B34F9B2D6}"/>
              </a:ext>
            </a:extLst>
          </p:cNvPr>
          <p:cNvSpPr/>
          <p:nvPr/>
        </p:nvSpPr>
        <p:spPr>
          <a:xfrm rot="10800000">
            <a:off x="10720096" y="-13345"/>
            <a:ext cx="1471904" cy="981750"/>
          </a:xfrm>
          <a:custGeom>
            <a:avLst/>
            <a:gdLst>
              <a:gd name="connsiteX0" fmla="*/ 0 w 1471904"/>
              <a:gd name="connsiteY0" fmla="*/ 981750 h 981750"/>
              <a:gd name="connsiteX1" fmla="*/ 0 w 1471904"/>
              <a:gd name="connsiteY1" fmla="*/ 894038 h 981750"/>
              <a:gd name="connsiteX2" fmla="*/ 781762 w 1471904"/>
              <a:gd name="connsiteY2" fmla="*/ 893255 h 981750"/>
              <a:gd name="connsiteX3" fmla="*/ 1330892 w 1471904"/>
              <a:gd name="connsiteY3" fmla="*/ 0 h 981750"/>
              <a:gd name="connsiteX4" fmla="*/ 1471904 w 1471904"/>
              <a:gd name="connsiteY4" fmla="*/ 0 h 981750"/>
              <a:gd name="connsiteX5" fmla="*/ 868429 w 1471904"/>
              <a:gd name="connsiteY5" fmla="*/ 981377 h 981750"/>
              <a:gd name="connsiteX6" fmla="*/ 0 w 1471904"/>
              <a:gd name="connsiteY6" fmla="*/ 981750 h 9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1904" h="981750">
                <a:moveTo>
                  <a:pt x="0" y="981750"/>
                </a:moveTo>
                <a:lnTo>
                  <a:pt x="0" y="894038"/>
                </a:lnTo>
                <a:lnTo>
                  <a:pt x="781762" y="893255"/>
                </a:lnTo>
                <a:lnTo>
                  <a:pt x="1330892" y="0"/>
                </a:lnTo>
                <a:lnTo>
                  <a:pt x="1471904" y="0"/>
                </a:lnTo>
                <a:lnTo>
                  <a:pt x="868429" y="981377"/>
                </a:lnTo>
                <a:lnTo>
                  <a:pt x="0" y="981750"/>
                </a:lnTo>
                <a:close/>
              </a:path>
            </a:pathLst>
          </a:custGeom>
          <a:solidFill>
            <a:schemeClr val="bg1"/>
          </a:solidFill>
          <a:ln w="31591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endParaRPr lang="pt-BR" sz="2400" dirty="0"/>
          </a:p>
        </p:txBody>
      </p:sp>
      <p:cxnSp>
        <p:nvCxnSpPr>
          <p:cNvPr id="13" name="Straight Connector 7">
            <a:extLst>
              <a:ext uri="{FF2B5EF4-FFF2-40B4-BE49-F238E27FC236}">
                <a16:creationId xmlns:a16="http://schemas.microsoft.com/office/drawing/2014/main" id="{1DA609B7-E591-4257-ACCD-2AF36C57FB75}"/>
              </a:ext>
            </a:extLst>
          </p:cNvPr>
          <p:cNvCxnSpPr>
            <a:cxnSpLocks/>
          </p:cNvCxnSpPr>
          <p:nvPr/>
        </p:nvCxnSpPr>
        <p:spPr>
          <a:xfrm>
            <a:off x="488311" y="6438900"/>
            <a:ext cx="11247120" cy="0"/>
          </a:xfrm>
          <a:prstGeom prst="line">
            <a:avLst/>
          </a:prstGeom>
          <a:ln w="38100" cmpd="dbl">
            <a:gradFill flip="none" rotWithShape="1">
              <a:gsLst>
                <a:gs pos="0">
                  <a:srgbClr val="20C5D8"/>
                </a:gs>
                <a:gs pos="100000">
                  <a:srgbClr val="356884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áfico 6">
            <a:extLst>
              <a:ext uri="{FF2B5EF4-FFF2-40B4-BE49-F238E27FC236}">
                <a16:creationId xmlns:a16="http://schemas.microsoft.com/office/drawing/2014/main" id="{427127B8-41AB-42E4-9558-CA236EF79D16}"/>
              </a:ext>
            </a:extLst>
          </p:cNvPr>
          <p:cNvGrpSpPr/>
          <p:nvPr/>
        </p:nvGrpSpPr>
        <p:grpSpPr>
          <a:xfrm>
            <a:off x="11050535" y="6551038"/>
            <a:ext cx="678361" cy="200941"/>
            <a:chOff x="11350577" y="6551038"/>
            <a:chExt cx="678361" cy="200941"/>
          </a:xfrm>
        </p:grpSpPr>
        <p:grpSp>
          <p:nvGrpSpPr>
            <p:cNvPr id="15" name="Gráfico 6">
              <a:extLst>
                <a:ext uri="{FF2B5EF4-FFF2-40B4-BE49-F238E27FC236}">
                  <a16:creationId xmlns:a16="http://schemas.microsoft.com/office/drawing/2014/main" id="{40CC1147-D1B5-4302-8D3F-6237ACCBACBC}"/>
                </a:ext>
              </a:extLst>
            </p:cNvPr>
            <p:cNvGrpSpPr/>
            <p:nvPr/>
          </p:nvGrpSpPr>
          <p:grpSpPr>
            <a:xfrm>
              <a:off x="11350577" y="6590145"/>
              <a:ext cx="161481" cy="161833"/>
              <a:chOff x="11350577" y="6590145"/>
              <a:chExt cx="161481" cy="161833"/>
            </a:xfrm>
            <a:solidFill>
              <a:srgbClr val="464547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325D428-1CF9-4FB7-9B37-8FEC4904A14E}"/>
                  </a:ext>
                </a:extLst>
              </p:cNvPr>
              <p:cNvSpPr/>
              <p:nvPr/>
            </p:nvSpPr>
            <p:spPr>
              <a:xfrm>
                <a:off x="11350577" y="6590539"/>
                <a:ext cx="84665" cy="161440"/>
              </a:xfrm>
              <a:custGeom>
                <a:avLst/>
                <a:gdLst>
                  <a:gd name="connsiteX0" fmla="*/ 17942 w 84665"/>
                  <a:gd name="connsiteY0" fmla="*/ 79406 h 161440"/>
                  <a:gd name="connsiteX1" fmla="*/ 42526 w 84665"/>
                  <a:gd name="connsiteY1" fmla="*/ 92527 h 161440"/>
                  <a:gd name="connsiteX2" fmla="*/ 63692 w 84665"/>
                  <a:gd name="connsiteY2" fmla="*/ 80022 h 161440"/>
                  <a:gd name="connsiteX3" fmla="*/ 67934 w 84665"/>
                  <a:gd name="connsiteY3" fmla="*/ 54621 h 161440"/>
                  <a:gd name="connsiteX4" fmla="*/ 63295 w 84665"/>
                  <a:gd name="connsiteY4" fmla="*/ 25791 h 161440"/>
                  <a:gd name="connsiteX5" fmla="*/ 44747 w 84665"/>
                  <a:gd name="connsiteY5" fmla="*/ 14706 h 161440"/>
                  <a:gd name="connsiteX6" fmla="*/ 17946 w 84665"/>
                  <a:gd name="connsiteY6" fmla="*/ 28833 h 161440"/>
                  <a:gd name="connsiteX7" fmla="*/ 17946 w 84665"/>
                  <a:gd name="connsiteY7" fmla="*/ 79406 h 161440"/>
                  <a:gd name="connsiteX8" fmla="*/ 0 w 84665"/>
                  <a:gd name="connsiteY8" fmla="*/ 2823 h 161440"/>
                  <a:gd name="connsiteX9" fmla="*/ 16129 w 84665"/>
                  <a:gd name="connsiteY9" fmla="*/ 0 h 161440"/>
                  <a:gd name="connsiteX10" fmla="*/ 17125 w 84665"/>
                  <a:gd name="connsiteY10" fmla="*/ 15311 h 161440"/>
                  <a:gd name="connsiteX11" fmla="*/ 46762 w 84665"/>
                  <a:gd name="connsiteY11" fmla="*/ 602 h 161440"/>
                  <a:gd name="connsiteX12" fmla="*/ 73569 w 84665"/>
                  <a:gd name="connsiteY12" fmla="*/ 13094 h 161440"/>
                  <a:gd name="connsiteX13" fmla="*/ 84665 w 84665"/>
                  <a:gd name="connsiteY13" fmla="*/ 52629 h 161440"/>
                  <a:gd name="connsiteX14" fmla="*/ 76611 w 84665"/>
                  <a:gd name="connsiteY14" fmla="*/ 87296 h 161440"/>
                  <a:gd name="connsiteX15" fmla="*/ 45557 w 84665"/>
                  <a:gd name="connsiteY15" fmla="*/ 105639 h 161440"/>
                  <a:gd name="connsiteX16" fmla="*/ 17942 w 84665"/>
                  <a:gd name="connsiteY16" fmla="*/ 93951 h 161440"/>
                  <a:gd name="connsiteX17" fmla="*/ 17942 w 84665"/>
                  <a:gd name="connsiteY17" fmla="*/ 158443 h 161440"/>
                  <a:gd name="connsiteX18" fmla="*/ 2227 w 84665"/>
                  <a:gd name="connsiteY18" fmla="*/ 161440 h 161440"/>
                  <a:gd name="connsiteX19" fmla="*/ 2227 w 84665"/>
                  <a:gd name="connsiteY19" fmla="*/ 24375 h 161440"/>
                  <a:gd name="connsiteX20" fmla="*/ 0 w 84665"/>
                  <a:gd name="connsiteY20" fmla="*/ 2823 h 1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4665" h="161440">
                    <a:moveTo>
                      <a:pt x="17942" y="79406"/>
                    </a:moveTo>
                    <a:cubicBezTo>
                      <a:pt x="25388" y="87898"/>
                      <a:pt x="34071" y="92527"/>
                      <a:pt x="42526" y="92527"/>
                    </a:cubicBezTo>
                    <a:cubicBezTo>
                      <a:pt x="51808" y="92527"/>
                      <a:pt x="60267" y="87504"/>
                      <a:pt x="63692" y="80022"/>
                    </a:cubicBezTo>
                    <a:cubicBezTo>
                      <a:pt x="66730" y="73573"/>
                      <a:pt x="67934" y="65905"/>
                      <a:pt x="67934" y="54621"/>
                    </a:cubicBezTo>
                    <a:cubicBezTo>
                      <a:pt x="67934" y="42519"/>
                      <a:pt x="66114" y="31841"/>
                      <a:pt x="63295" y="25791"/>
                    </a:cubicBezTo>
                    <a:cubicBezTo>
                      <a:pt x="60085" y="18931"/>
                      <a:pt x="52818" y="14706"/>
                      <a:pt x="44747" y="14706"/>
                    </a:cubicBezTo>
                    <a:cubicBezTo>
                      <a:pt x="34680" y="14706"/>
                      <a:pt x="25603" y="19530"/>
                      <a:pt x="17946" y="28833"/>
                    </a:cubicBezTo>
                    <a:lnTo>
                      <a:pt x="17946" y="79406"/>
                    </a:lnTo>
                    <a:close/>
                    <a:moveTo>
                      <a:pt x="0" y="2823"/>
                    </a:moveTo>
                    <a:lnTo>
                      <a:pt x="16129" y="0"/>
                    </a:lnTo>
                    <a:cubicBezTo>
                      <a:pt x="16129" y="0"/>
                      <a:pt x="17125" y="4236"/>
                      <a:pt x="17125" y="15311"/>
                    </a:cubicBezTo>
                    <a:cubicBezTo>
                      <a:pt x="25388" y="5676"/>
                      <a:pt x="35690" y="602"/>
                      <a:pt x="46762" y="602"/>
                    </a:cubicBezTo>
                    <a:cubicBezTo>
                      <a:pt x="57043" y="602"/>
                      <a:pt x="67130" y="5040"/>
                      <a:pt x="73569" y="13094"/>
                    </a:cubicBezTo>
                    <a:cubicBezTo>
                      <a:pt x="81038" y="22380"/>
                      <a:pt x="84665" y="34694"/>
                      <a:pt x="84665" y="52629"/>
                    </a:cubicBezTo>
                    <a:cubicBezTo>
                      <a:pt x="84665" y="68738"/>
                      <a:pt x="82253" y="78003"/>
                      <a:pt x="76611" y="87296"/>
                    </a:cubicBezTo>
                    <a:cubicBezTo>
                      <a:pt x="69344" y="98974"/>
                      <a:pt x="58655" y="105639"/>
                      <a:pt x="45557" y="105639"/>
                    </a:cubicBezTo>
                    <a:cubicBezTo>
                      <a:pt x="35279" y="105639"/>
                      <a:pt x="24991" y="101214"/>
                      <a:pt x="17942" y="93951"/>
                    </a:cubicBezTo>
                    <a:lnTo>
                      <a:pt x="17942" y="158443"/>
                    </a:lnTo>
                    <a:lnTo>
                      <a:pt x="2227" y="161440"/>
                    </a:lnTo>
                    <a:lnTo>
                      <a:pt x="2227" y="24375"/>
                    </a:lnTo>
                    <a:cubicBezTo>
                      <a:pt x="2227" y="9067"/>
                      <a:pt x="0" y="2823"/>
                      <a:pt x="0" y="2823"/>
                    </a:cubicBezTo>
                  </a:path>
                </a:pathLst>
              </a:custGeom>
              <a:solidFill>
                <a:srgbClr val="464547"/>
              </a:solidFill>
              <a:ln w="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D9D6298-1C06-4DCD-A564-76D63412C4A1}"/>
                  </a:ext>
                </a:extLst>
              </p:cNvPr>
              <p:cNvSpPr/>
              <p:nvPr/>
            </p:nvSpPr>
            <p:spPr>
              <a:xfrm>
                <a:off x="11459436" y="6590145"/>
                <a:ext cx="52622" cy="103384"/>
              </a:xfrm>
              <a:custGeom>
                <a:avLst/>
                <a:gdLst>
                  <a:gd name="connsiteX0" fmla="*/ 0 w 52622"/>
                  <a:gd name="connsiteY0" fmla="*/ 4629 h 103384"/>
                  <a:gd name="connsiteX1" fmla="*/ 15722 w 52622"/>
                  <a:gd name="connsiteY1" fmla="*/ 394 h 103384"/>
                  <a:gd name="connsiteX2" fmla="*/ 18952 w 52622"/>
                  <a:gd name="connsiteY2" fmla="*/ 16734 h 103384"/>
                  <a:gd name="connsiteX3" fmla="*/ 47162 w 52622"/>
                  <a:gd name="connsiteY3" fmla="*/ 0 h 103384"/>
                  <a:gd name="connsiteX4" fmla="*/ 52623 w 52622"/>
                  <a:gd name="connsiteY4" fmla="*/ 996 h 103384"/>
                  <a:gd name="connsiteX5" fmla="*/ 46166 w 52622"/>
                  <a:gd name="connsiteY5" fmla="*/ 18137 h 103384"/>
                  <a:gd name="connsiteX6" fmla="*/ 41719 w 52622"/>
                  <a:gd name="connsiteY6" fmla="*/ 17330 h 103384"/>
                  <a:gd name="connsiteX7" fmla="*/ 25001 w 52622"/>
                  <a:gd name="connsiteY7" fmla="*/ 24597 h 103384"/>
                  <a:gd name="connsiteX8" fmla="*/ 19150 w 52622"/>
                  <a:gd name="connsiteY8" fmla="*/ 40507 h 103384"/>
                  <a:gd name="connsiteX9" fmla="*/ 19150 w 52622"/>
                  <a:gd name="connsiteY9" fmla="*/ 103384 h 103384"/>
                  <a:gd name="connsiteX10" fmla="*/ 3418 w 52622"/>
                  <a:gd name="connsiteY10" fmla="*/ 103384 h 103384"/>
                  <a:gd name="connsiteX11" fmla="*/ 3418 w 52622"/>
                  <a:gd name="connsiteY11" fmla="*/ 25976 h 103384"/>
                  <a:gd name="connsiteX12" fmla="*/ 0 w 52622"/>
                  <a:gd name="connsiteY12" fmla="*/ 4629 h 1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2622" h="103384">
                    <a:moveTo>
                      <a:pt x="0" y="4629"/>
                    </a:moveTo>
                    <a:lnTo>
                      <a:pt x="15722" y="394"/>
                    </a:lnTo>
                    <a:cubicBezTo>
                      <a:pt x="15722" y="394"/>
                      <a:pt x="19561" y="8243"/>
                      <a:pt x="18952" y="16734"/>
                    </a:cubicBezTo>
                    <a:cubicBezTo>
                      <a:pt x="26209" y="6463"/>
                      <a:pt x="36897" y="0"/>
                      <a:pt x="47162" y="0"/>
                    </a:cubicBezTo>
                    <a:cubicBezTo>
                      <a:pt x="49790" y="0"/>
                      <a:pt x="52623" y="996"/>
                      <a:pt x="52623" y="996"/>
                    </a:cubicBezTo>
                    <a:lnTo>
                      <a:pt x="46166" y="18137"/>
                    </a:lnTo>
                    <a:cubicBezTo>
                      <a:pt x="45160" y="17724"/>
                      <a:pt x="43344" y="17330"/>
                      <a:pt x="41719" y="17330"/>
                    </a:cubicBezTo>
                    <a:cubicBezTo>
                      <a:pt x="35680" y="17330"/>
                      <a:pt x="29620" y="19921"/>
                      <a:pt x="25001" y="24597"/>
                    </a:cubicBezTo>
                    <a:cubicBezTo>
                      <a:pt x="20361" y="29223"/>
                      <a:pt x="19150" y="32241"/>
                      <a:pt x="19150" y="40507"/>
                    </a:cubicBezTo>
                    <a:lnTo>
                      <a:pt x="19150" y="103384"/>
                    </a:lnTo>
                    <a:lnTo>
                      <a:pt x="3418" y="103384"/>
                    </a:lnTo>
                    <a:lnTo>
                      <a:pt x="3418" y="25976"/>
                    </a:lnTo>
                    <a:cubicBezTo>
                      <a:pt x="3418" y="11301"/>
                      <a:pt x="0" y="4629"/>
                      <a:pt x="0" y="4629"/>
                    </a:cubicBezTo>
                  </a:path>
                </a:pathLst>
              </a:custGeom>
              <a:solidFill>
                <a:srgbClr val="464547"/>
              </a:solidFill>
              <a:ln w="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52394C-C93C-421E-845C-EF087544F670}"/>
                </a:ext>
              </a:extLst>
            </p:cNvPr>
            <p:cNvSpPr/>
            <p:nvPr/>
          </p:nvSpPr>
          <p:spPr>
            <a:xfrm>
              <a:off x="11701353" y="6590960"/>
              <a:ext cx="16310" cy="102576"/>
            </a:xfrm>
            <a:custGeom>
              <a:avLst/>
              <a:gdLst>
                <a:gd name="connsiteX0" fmla="*/ 0 w 16310"/>
                <a:gd name="connsiteY0" fmla="*/ 2591 h 102576"/>
                <a:gd name="connsiteX1" fmla="*/ 16311 w 16310"/>
                <a:gd name="connsiteY1" fmla="*/ 0 h 102576"/>
                <a:gd name="connsiteX2" fmla="*/ 16311 w 16310"/>
                <a:gd name="connsiteY2" fmla="*/ 102577 h 102576"/>
                <a:gd name="connsiteX3" fmla="*/ 0 w 16310"/>
                <a:gd name="connsiteY3" fmla="*/ 102577 h 10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10" h="102576">
                  <a:moveTo>
                    <a:pt x="0" y="2591"/>
                  </a:moveTo>
                  <a:lnTo>
                    <a:pt x="16311" y="0"/>
                  </a:lnTo>
                  <a:lnTo>
                    <a:pt x="16311" y="102577"/>
                  </a:lnTo>
                  <a:lnTo>
                    <a:pt x="0" y="102577"/>
                  </a:lnTo>
                  <a:close/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89930C1-4EB7-46DA-979C-3277DF9DDAC9}"/>
                </a:ext>
              </a:extLst>
            </p:cNvPr>
            <p:cNvSpPr/>
            <p:nvPr/>
          </p:nvSpPr>
          <p:spPr>
            <a:xfrm>
              <a:off x="11845686" y="6590960"/>
              <a:ext cx="16334" cy="102576"/>
            </a:xfrm>
            <a:custGeom>
              <a:avLst/>
              <a:gdLst>
                <a:gd name="connsiteX0" fmla="*/ 0 w 16334"/>
                <a:gd name="connsiteY0" fmla="*/ 2591 h 102576"/>
                <a:gd name="connsiteX1" fmla="*/ 16334 w 16334"/>
                <a:gd name="connsiteY1" fmla="*/ 0 h 102576"/>
                <a:gd name="connsiteX2" fmla="*/ 16334 w 16334"/>
                <a:gd name="connsiteY2" fmla="*/ 102577 h 102576"/>
                <a:gd name="connsiteX3" fmla="*/ 0 w 16334"/>
                <a:gd name="connsiteY3" fmla="*/ 102577 h 10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34" h="102576">
                  <a:moveTo>
                    <a:pt x="0" y="2591"/>
                  </a:moveTo>
                  <a:lnTo>
                    <a:pt x="16334" y="0"/>
                  </a:lnTo>
                  <a:lnTo>
                    <a:pt x="16334" y="102577"/>
                  </a:lnTo>
                  <a:lnTo>
                    <a:pt x="0" y="102577"/>
                  </a:lnTo>
                  <a:close/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4" name="Gráfico 6">
              <a:extLst>
                <a:ext uri="{FF2B5EF4-FFF2-40B4-BE49-F238E27FC236}">
                  <a16:creationId xmlns:a16="http://schemas.microsoft.com/office/drawing/2014/main" id="{91401623-8172-4258-A552-C5109BAEFA8F}"/>
                </a:ext>
              </a:extLst>
            </p:cNvPr>
            <p:cNvGrpSpPr/>
            <p:nvPr/>
          </p:nvGrpSpPr>
          <p:grpSpPr>
            <a:xfrm>
              <a:off x="11698742" y="6551038"/>
              <a:ext cx="281583" cy="22147"/>
              <a:chOff x="11698742" y="6551038"/>
              <a:chExt cx="281583" cy="22147"/>
            </a:xfrm>
            <a:solidFill>
              <a:srgbClr val="3E7998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5D30F6B-0067-4339-8A01-9F2348ECFA5B}"/>
                  </a:ext>
                </a:extLst>
              </p:cNvPr>
              <p:cNvSpPr/>
              <p:nvPr/>
            </p:nvSpPr>
            <p:spPr>
              <a:xfrm>
                <a:off x="11698742" y="6551038"/>
                <a:ext cx="22131" cy="22147"/>
              </a:xfrm>
              <a:custGeom>
                <a:avLst/>
                <a:gdLst>
                  <a:gd name="connsiteX0" fmla="*/ 11079 w 22131"/>
                  <a:gd name="connsiteY0" fmla="*/ 0 h 22147"/>
                  <a:gd name="connsiteX1" fmla="*/ 22131 w 22131"/>
                  <a:gd name="connsiteY1" fmla="*/ 11052 h 22147"/>
                  <a:gd name="connsiteX2" fmla="*/ 11079 w 22131"/>
                  <a:gd name="connsiteY2" fmla="*/ 22148 h 22147"/>
                  <a:gd name="connsiteX3" fmla="*/ 0 w 22131"/>
                  <a:gd name="connsiteY3" fmla="*/ 11224 h 22147"/>
                  <a:gd name="connsiteX4" fmla="*/ 11079 w 22131"/>
                  <a:gd name="connsiteY4" fmla="*/ 0 h 22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31" h="22147">
                    <a:moveTo>
                      <a:pt x="11079" y="0"/>
                    </a:moveTo>
                    <a:cubicBezTo>
                      <a:pt x="17239" y="0"/>
                      <a:pt x="22131" y="4882"/>
                      <a:pt x="22131" y="11052"/>
                    </a:cubicBezTo>
                    <a:cubicBezTo>
                      <a:pt x="22131" y="17243"/>
                      <a:pt x="17236" y="22148"/>
                      <a:pt x="11079" y="22148"/>
                    </a:cubicBezTo>
                    <a:cubicBezTo>
                      <a:pt x="4905" y="22148"/>
                      <a:pt x="0" y="17243"/>
                      <a:pt x="0" y="11224"/>
                    </a:cubicBezTo>
                    <a:cubicBezTo>
                      <a:pt x="0" y="5050"/>
                      <a:pt x="4905" y="0"/>
                      <a:pt x="11079" y="0"/>
                    </a:cubicBezTo>
                  </a:path>
                </a:pathLst>
              </a:custGeom>
              <a:solidFill>
                <a:srgbClr val="3E7998"/>
              </a:solidFill>
              <a:ln w="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8F5BA60-65FD-4711-821F-CE51BB626B25}"/>
                  </a:ext>
                </a:extLst>
              </p:cNvPr>
              <p:cNvSpPr/>
              <p:nvPr/>
            </p:nvSpPr>
            <p:spPr>
              <a:xfrm>
                <a:off x="11843075" y="6551038"/>
                <a:ext cx="22134" cy="22147"/>
              </a:xfrm>
              <a:custGeom>
                <a:avLst/>
                <a:gdLst>
                  <a:gd name="connsiteX0" fmla="*/ 11065 w 22134"/>
                  <a:gd name="connsiteY0" fmla="*/ 0 h 22147"/>
                  <a:gd name="connsiteX1" fmla="*/ 22134 w 22134"/>
                  <a:gd name="connsiteY1" fmla="*/ 11052 h 22147"/>
                  <a:gd name="connsiteX2" fmla="*/ 11065 w 22134"/>
                  <a:gd name="connsiteY2" fmla="*/ 22148 h 22147"/>
                  <a:gd name="connsiteX3" fmla="*/ 0 w 22134"/>
                  <a:gd name="connsiteY3" fmla="*/ 11224 h 22147"/>
                  <a:gd name="connsiteX4" fmla="*/ 11065 w 22134"/>
                  <a:gd name="connsiteY4" fmla="*/ 0 h 22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34" h="22147">
                    <a:moveTo>
                      <a:pt x="11065" y="0"/>
                    </a:moveTo>
                    <a:cubicBezTo>
                      <a:pt x="17246" y="0"/>
                      <a:pt x="22134" y="4882"/>
                      <a:pt x="22134" y="11052"/>
                    </a:cubicBezTo>
                    <a:cubicBezTo>
                      <a:pt x="22134" y="17243"/>
                      <a:pt x="17246" y="22148"/>
                      <a:pt x="11065" y="22148"/>
                    </a:cubicBezTo>
                    <a:cubicBezTo>
                      <a:pt x="4912" y="22148"/>
                      <a:pt x="0" y="17243"/>
                      <a:pt x="0" y="11224"/>
                    </a:cubicBezTo>
                    <a:cubicBezTo>
                      <a:pt x="0" y="5050"/>
                      <a:pt x="4912" y="0"/>
                      <a:pt x="11065" y="0"/>
                    </a:cubicBezTo>
                  </a:path>
                </a:pathLst>
              </a:custGeom>
              <a:solidFill>
                <a:srgbClr val="3E7998"/>
              </a:solidFill>
              <a:ln w="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B4D888-5241-4A44-A7C7-F2AE5756D468}"/>
                  </a:ext>
                </a:extLst>
              </p:cNvPr>
              <p:cNvSpPr/>
              <p:nvPr/>
            </p:nvSpPr>
            <p:spPr>
              <a:xfrm>
                <a:off x="11958195" y="6551038"/>
                <a:ext cx="22131" cy="22147"/>
              </a:xfrm>
              <a:custGeom>
                <a:avLst/>
                <a:gdLst>
                  <a:gd name="connsiteX0" fmla="*/ 11062 w 22131"/>
                  <a:gd name="connsiteY0" fmla="*/ 0 h 22147"/>
                  <a:gd name="connsiteX1" fmla="*/ 22131 w 22131"/>
                  <a:gd name="connsiteY1" fmla="*/ 11052 h 22147"/>
                  <a:gd name="connsiteX2" fmla="*/ 11062 w 22131"/>
                  <a:gd name="connsiteY2" fmla="*/ 22148 h 22147"/>
                  <a:gd name="connsiteX3" fmla="*/ 0 w 22131"/>
                  <a:gd name="connsiteY3" fmla="*/ 11224 h 22147"/>
                  <a:gd name="connsiteX4" fmla="*/ 11062 w 22131"/>
                  <a:gd name="connsiteY4" fmla="*/ 0 h 22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31" h="22147">
                    <a:moveTo>
                      <a:pt x="11062" y="0"/>
                    </a:moveTo>
                    <a:cubicBezTo>
                      <a:pt x="17243" y="0"/>
                      <a:pt x="22131" y="4882"/>
                      <a:pt x="22131" y="11052"/>
                    </a:cubicBezTo>
                    <a:cubicBezTo>
                      <a:pt x="22131" y="17243"/>
                      <a:pt x="17243" y="22148"/>
                      <a:pt x="11062" y="22148"/>
                    </a:cubicBezTo>
                    <a:cubicBezTo>
                      <a:pt x="4892" y="22148"/>
                      <a:pt x="0" y="17243"/>
                      <a:pt x="0" y="11224"/>
                    </a:cubicBezTo>
                    <a:cubicBezTo>
                      <a:pt x="0" y="5050"/>
                      <a:pt x="4892" y="0"/>
                      <a:pt x="11062" y="0"/>
                    </a:cubicBezTo>
                  </a:path>
                </a:pathLst>
              </a:custGeom>
              <a:solidFill>
                <a:srgbClr val="3E7998"/>
              </a:solidFill>
              <a:ln w="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590F3-E90A-47BE-877F-20CCB85E4C82}"/>
                </a:ext>
              </a:extLst>
            </p:cNvPr>
            <p:cNvSpPr/>
            <p:nvPr/>
          </p:nvSpPr>
          <p:spPr>
            <a:xfrm>
              <a:off x="11960789" y="6590960"/>
              <a:ext cx="16340" cy="102576"/>
            </a:xfrm>
            <a:custGeom>
              <a:avLst/>
              <a:gdLst>
                <a:gd name="connsiteX0" fmla="*/ 0 w 16340"/>
                <a:gd name="connsiteY0" fmla="*/ 2591 h 102576"/>
                <a:gd name="connsiteX1" fmla="*/ 16341 w 16340"/>
                <a:gd name="connsiteY1" fmla="*/ 0 h 102576"/>
                <a:gd name="connsiteX2" fmla="*/ 16341 w 16340"/>
                <a:gd name="connsiteY2" fmla="*/ 102577 h 102576"/>
                <a:gd name="connsiteX3" fmla="*/ 0 w 16340"/>
                <a:gd name="connsiteY3" fmla="*/ 102577 h 10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40" h="102576">
                  <a:moveTo>
                    <a:pt x="0" y="2591"/>
                  </a:moveTo>
                  <a:lnTo>
                    <a:pt x="16341" y="0"/>
                  </a:lnTo>
                  <a:lnTo>
                    <a:pt x="16341" y="102577"/>
                  </a:lnTo>
                  <a:lnTo>
                    <a:pt x="0" y="102577"/>
                  </a:lnTo>
                  <a:close/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D4AA35-8486-4E2E-93C6-CB869E3E2E0B}"/>
                </a:ext>
              </a:extLst>
            </p:cNvPr>
            <p:cNvSpPr/>
            <p:nvPr/>
          </p:nvSpPr>
          <p:spPr>
            <a:xfrm>
              <a:off x="11521317" y="6590145"/>
              <a:ext cx="86485" cy="106028"/>
            </a:xfrm>
            <a:custGeom>
              <a:avLst/>
              <a:gdLst>
                <a:gd name="connsiteX0" fmla="*/ 42546 w 86485"/>
                <a:gd name="connsiteY0" fmla="*/ 12889 h 106028"/>
                <a:gd name="connsiteX1" fmla="*/ 21973 w 86485"/>
                <a:gd name="connsiteY1" fmla="*/ 23790 h 106028"/>
                <a:gd name="connsiteX2" fmla="*/ 17138 w 86485"/>
                <a:gd name="connsiteY2" fmla="*/ 49978 h 106028"/>
                <a:gd name="connsiteX3" fmla="*/ 23389 w 86485"/>
                <a:gd name="connsiteY3" fmla="*/ 82858 h 106028"/>
                <a:gd name="connsiteX4" fmla="*/ 43744 w 86485"/>
                <a:gd name="connsiteY4" fmla="*/ 92921 h 106028"/>
                <a:gd name="connsiteX5" fmla="*/ 65532 w 86485"/>
                <a:gd name="connsiteY5" fmla="*/ 77835 h 106028"/>
                <a:gd name="connsiteX6" fmla="*/ 68543 w 86485"/>
                <a:gd name="connsiteY6" fmla="*/ 56010 h 106028"/>
                <a:gd name="connsiteX7" fmla="*/ 63904 w 86485"/>
                <a:gd name="connsiteY7" fmla="*/ 25781 h 106028"/>
                <a:gd name="connsiteX8" fmla="*/ 42546 w 86485"/>
                <a:gd name="connsiteY8" fmla="*/ 12889 h 106028"/>
                <a:gd name="connsiteX9" fmla="*/ 42751 w 86485"/>
                <a:gd name="connsiteY9" fmla="*/ 0 h 106028"/>
                <a:gd name="connsiteX10" fmla="*/ 77220 w 86485"/>
                <a:gd name="connsiteY10" fmla="*/ 17545 h 106028"/>
                <a:gd name="connsiteX11" fmla="*/ 86485 w 86485"/>
                <a:gd name="connsiteY11" fmla="*/ 54806 h 106028"/>
                <a:gd name="connsiteX12" fmla="*/ 43350 w 86485"/>
                <a:gd name="connsiteY12" fmla="*/ 106029 h 106028"/>
                <a:gd name="connsiteX13" fmla="*/ 0 w 86485"/>
                <a:gd name="connsiteY13" fmla="*/ 52609 h 106028"/>
                <a:gd name="connsiteX14" fmla="*/ 42751 w 86485"/>
                <a:gd name="connsiteY14" fmla="*/ 0 h 10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485" h="106028">
                  <a:moveTo>
                    <a:pt x="42546" y="12889"/>
                  </a:moveTo>
                  <a:cubicBezTo>
                    <a:pt x="33678" y="12889"/>
                    <a:pt x="25398" y="17121"/>
                    <a:pt x="21973" y="23790"/>
                  </a:cubicBezTo>
                  <a:cubicBezTo>
                    <a:pt x="18746" y="30044"/>
                    <a:pt x="17138" y="38068"/>
                    <a:pt x="17138" y="49978"/>
                  </a:cubicBezTo>
                  <a:cubicBezTo>
                    <a:pt x="17138" y="64098"/>
                    <a:pt x="19567" y="76597"/>
                    <a:pt x="23389" y="82858"/>
                  </a:cubicBezTo>
                  <a:cubicBezTo>
                    <a:pt x="27020" y="88914"/>
                    <a:pt x="35084" y="92921"/>
                    <a:pt x="43744" y="92921"/>
                  </a:cubicBezTo>
                  <a:cubicBezTo>
                    <a:pt x="54231" y="92921"/>
                    <a:pt x="62093" y="87484"/>
                    <a:pt x="65532" y="77835"/>
                  </a:cubicBezTo>
                  <a:cubicBezTo>
                    <a:pt x="67729" y="71574"/>
                    <a:pt x="68543" y="65925"/>
                    <a:pt x="68543" y="56010"/>
                  </a:cubicBezTo>
                  <a:cubicBezTo>
                    <a:pt x="68543" y="41944"/>
                    <a:pt x="67137" y="32436"/>
                    <a:pt x="63904" y="25781"/>
                  </a:cubicBezTo>
                  <a:cubicBezTo>
                    <a:pt x="59671" y="16936"/>
                    <a:pt x="50806" y="12889"/>
                    <a:pt x="42546" y="12889"/>
                  </a:cubicBezTo>
                  <a:moveTo>
                    <a:pt x="42751" y="0"/>
                  </a:moveTo>
                  <a:cubicBezTo>
                    <a:pt x="59473" y="0"/>
                    <a:pt x="70360" y="7634"/>
                    <a:pt x="77220" y="17545"/>
                  </a:cubicBezTo>
                  <a:cubicBezTo>
                    <a:pt x="83464" y="26579"/>
                    <a:pt x="86485" y="38482"/>
                    <a:pt x="86485" y="54806"/>
                  </a:cubicBezTo>
                  <a:cubicBezTo>
                    <a:pt x="86485" y="88292"/>
                    <a:pt x="68546" y="106029"/>
                    <a:pt x="43350" y="106029"/>
                  </a:cubicBezTo>
                  <a:cubicBezTo>
                    <a:pt x="15722" y="106029"/>
                    <a:pt x="0" y="85651"/>
                    <a:pt x="0" y="52609"/>
                  </a:cubicBezTo>
                  <a:cubicBezTo>
                    <a:pt x="-3" y="19921"/>
                    <a:pt x="16341" y="0"/>
                    <a:pt x="42751" y="0"/>
                  </a:cubicBezTo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6ABCE2-B552-495E-B50C-66577B1C19D4}"/>
                </a:ext>
              </a:extLst>
            </p:cNvPr>
            <p:cNvSpPr/>
            <p:nvPr/>
          </p:nvSpPr>
          <p:spPr>
            <a:xfrm>
              <a:off x="11735815" y="6590542"/>
              <a:ext cx="89318" cy="104016"/>
            </a:xfrm>
            <a:custGeom>
              <a:avLst/>
              <a:gdLst>
                <a:gd name="connsiteX0" fmla="*/ 0 w 89318"/>
                <a:gd name="connsiteY0" fmla="*/ 3398 h 104016"/>
                <a:gd name="connsiteX1" fmla="*/ 16129 w 89318"/>
                <a:gd name="connsiteY1" fmla="*/ 0 h 104016"/>
                <a:gd name="connsiteX2" fmla="*/ 39522 w 89318"/>
                <a:gd name="connsiteY2" fmla="*/ 69145 h 104016"/>
                <a:gd name="connsiteX3" fmla="*/ 44339 w 89318"/>
                <a:gd name="connsiteY3" fmla="*/ 86266 h 104016"/>
                <a:gd name="connsiteX4" fmla="*/ 44750 w 89318"/>
                <a:gd name="connsiteY4" fmla="*/ 86266 h 104016"/>
                <a:gd name="connsiteX5" fmla="*/ 49585 w 89318"/>
                <a:gd name="connsiteY5" fmla="*/ 69360 h 104016"/>
                <a:gd name="connsiteX6" fmla="*/ 72580 w 89318"/>
                <a:gd name="connsiteY6" fmla="*/ 2601 h 104016"/>
                <a:gd name="connsiteX7" fmla="*/ 89318 w 89318"/>
                <a:gd name="connsiteY7" fmla="*/ 2601 h 104016"/>
                <a:gd name="connsiteX8" fmla="*/ 51610 w 89318"/>
                <a:gd name="connsiteY8" fmla="*/ 104017 h 104016"/>
                <a:gd name="connsiteX9" fmla="*/ 36093 w 89318"/>
                <a:gd name="connsiteY9" fmla="*/ 104017 h 104016"/>
                <a:gd name="connsiteX10" fmla="*/ 0 w 89318"/>
                <a:gd name="connsiteY10" fmla="*/ 3398 h 10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318" h="104016">
                  <a:moveTo>
                    <a:pt x="0" y="3398"/>
                  </a:moveTo>
                  <a:lnTo>
                    <a:pt x="16129" y="0"/>
                  </a:lnTo>
                  <a:lnTo>
                    <a:pt x="39522" y="69145"/>
                  </a:lnTo>
                  <a:cubicBezTo>
                    <a:pt x="42331" y="77431"/>
                    <a:pt x="44339" y="86266"/>
                    <a:pt x="44339" y="86266"/>
                  </a:cubicBezTo>
                  <a:lnTo>
                    <a:pt x="44750" y="86266"/>
                  </a:lnTo>
                  <a:cubicBezTo>
                    <a:pt x="44750" y="86266"/>
                    <a:pt x="46372" y="78400"/>
                    <a:pt x="49585" y="69360"/>
                  </a:cubicBezTo>
                  <a:lnTo>
                    <a:pt x="72580" y="2601"/>
                  </a:lnTo>
                  <a:lnTo>
                    <a:pt x="89318" y="2601"/>
                  </a:lnTo>
                  <a:lnTo>
                    <a:pt x="51610" y="104017"/>
                  </a:lnTo>
                  <a:lnTo>
                    <a:pt x="36093" y="104017"/>
                  </a:lnTo>
                  <a:lnTo>
                    <a:pt x="0" y="3398"/>
                  </a:lnTo>
                  <a:close/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3507703-58A0-43CC-ADF6-809053400B43}"/>
                </a:ext>
              </a:extLst>
            </p:cNvPr>
            <p:cNvSpPr/>
            <p:nvPr/>
          </p:nvSpPr>
          <p:spPr>
            <a:xfrm>
              <a:off x="11884588" y="6560552"/>
              <a:ext cx="54436" cy="136234"/>
            </a:xfrm>
            <a:custGeom>
              <a:avLst/>
              <a:gdLst>
                <a:gd name="connsiteX0" fmla="*/ 54436 w 54436"/>
                <a:gd name="connsiteY0" fmla="*/ 32594 h 136234"/>
                <a:gd name="connsiteX1" fmla="*/ 49595 w 54436"/>
                <a:gd name="connsiteY1" fmla="*/ 44487 h 136234"/>
                <a:gd name="connsiteX2" fmla="*/ 28624 w 54436"/>
                <a:gd name="connsiteY2" fmla="*/ 44487 h 136234"/>
                <a:gd name="connsiteX3" fmla="*/ 28624 w 54436"/>
                <a:gd name="connsiteY3" fmla="*/ 109205 h 136234"/>
                <a:gd name="connsiteX4" fmla="*/ 41530 w 54436"/>
                <a:gd name="connsiteY4" fmla="*/ 124133 h 136234"/>
                <a:gd name="connsiteX5" fmla="*/ 51398 w 54436"/>
                <a:gd name="connsiteY5" fmla="*/ 122094 h 136234"/>
                <a:gd name="connsiteX6" fmla="*/ 53629 w 54436"/>
                <a:gd name="connsiteY6" fmla="*/ 132173 h 136234"/>
                <a:gd name="connsiteX7" fmla="*/ 35885 w 54436"/>
                <a:gd name="connsiteY7" fmla="*/ 136234 h 136234"/>
                <a:gd name="connsiteX8" fmla="*/ 22774 w 54436"/>
                <a:gd name="connsiteY8" fmla="*/ 133401 h 136234"/>
                <a:gd name="connsiteX9" fmla="*/ 13104 w 54436"/>
                <a:gd name="connsiteY9" fmla="*/ 113454 h 136234"/>
                <a:gd name="connsiteX10" fmla="*/ 13104 w 54436"/>
                <a:gd name="connsiteY10" fmla="*/ 44487 h 136234"/>
                <a:gd name="connsiteX11" fmla="*/ 0 w 54436"/>
                <a:gd name="connsiteY11" fmla="*/ 44487 h 136234"/>
                <a:gd name="connsiteX12" fmla="*/ 0 w 54436"/>
                <a:gd name="connsiteY12" fmla="*/ 32594 h 136234"/>
                <a:gd name="connsiteX13" fmla="*/ 13912 w 54436"/>
                <a:gd name="connsiteY13" fmla="*/ 32594 h 136234"/>
                <a:gd name="connsiteX14" fmla="*/ 13912 w 54436"/>
                <a:gd name="connsiteY14" fmla="*/ 3068 h 136234"/>
                <a:gd name="connsiteX15" fmla="*/ 28772 w 54436"/>
                <a:gd name="connsiteY15" fmla="*/ 0 h 136234"/>
                <a:gd name="connsiteX16" fmla="*/ 28772 w 54436"/>
                <a:gd name="connsiteY16" fmla="*/ 32594 h 136234"/>
                <a:gd name="connsiteX17" fmla="*/ 54436 w 54436"/>
                <a:gd name="connsiteY17" fmla="*/ 32594 h 13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436" h="136234">
                  <a:moveTo>
                    <a:pt x="54436" y="32594"/>
                  </a:moveTo>
                  <a:lnTo>
                    <a:pt x="49595" y="44487"/>
                  </a:lnTo>
                  <a:lnTo>
                    <a:pt x="28624" y="44487"/>
                  </a:lnTo>
                  <a:lnTo>
                    <a:pt x="28624" y="109205"/>
                  </a:lnTo>
                  <a:cubicBezTo>
                    <a:pt x="28624" y="120280"/>
                    <a:pt x="31646" y="124133"/>
                    <a:pt x="41530" y="124133"/>
                  </a:cubicBezTo>
                  <a:cubicBezTo>
                    <a:pt x="45961" y="124133"/>
                    <a:pt x="48579" y="123534"/>
                    <a:pt x="51398" y="122094"/>
                  </a:cubicBezTo>
                  <a:lnTo>
                    <a:pt x="53629" y="132173"/>
                  </a:lnTo>
                  <a:cubicBezTo>
                    <a:pt x="48579" y="134808"/>
                    <a:pt x="42916" y="136234"/>
                    <a:pt x="35885" y="136234"/>
                  </a:cubicBezTo>
                  <a:cubicBezTo>
                    <a:pt x="30640" y="136234"/>
                    <a:pt x="26612" y="135218"/>
                    <a:pt x="22774" y="133401"/>
                  </a:cubicBezTo>
                  <a:cubicBezTo>
                    <a:pt x="15732" y="129987"/>
                    <a:pt x="13104" y="123537"/>
                    <a:pt x="13104" y="113454"/>
                  </a:cubicBezTo>
                  <a:lnTo>
                    <a:pt x="13104" y="44487"/>
                  </a:lnTo>
                  <a:lnTo>
                    <a:pt x="0" y="44487"/>
                  </a:lnTo>
                  <a:lnTo>
                    <a:pt x="0" y="32594"/>
                  </a:lnTo>
                  <a:lnTo>
                    <a:pt x="13912" y="32594"/>
                  </a:lnTo>
                  <a:lnTo>
                    <a:pt x="13912" y="3068"/>
                  </a:lnTo>
                  <a:lnTo>
                    <a:pt x="28772" y="0"/>
                  </a:lnTo>
                  <a:lnTo>
                    <a:pt x="28772" y="32594"/>
                  </a:lnTo>
                  <a:lnTo>
                    <a:pt x="54436" y="32594"/>
                  </a:lnTo>
                  <a:close/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06CBFC-8072-44A2-B3FC-C2C6BD9AFB98}"/>
                </a:ext>
              </a:extLst>
            </p:cNvPr>
            <p:cNvSpPr/>
            <p:nvPr/>
          </p:nvSpPr>
          <p:spPr>
            <a:xfrm>
              <a:off x="11624853" y="6560552"/>
              <a:ext cx="54446" cy="136234"/>
            </a:xfrm>
            <a:custGeom>
              <a:avLst/>
              <a:gdLst>
                <a:gd name="connsiteX0" fmla="*/ 54446 w 54446"/>
                <a:gd name="connsiteY0" fmla="*/ 32594 h 136234"/>
                <a:gd name="connsiteX1" fmla="*/ 49595 w 54446"/>
                <a:gd name="connsiteY1" fmla="*/ 44487 h 136234"/>
                <a:gd name="connsiteX2" fmla="*/ 28634 w 54446"/>
                <a:gd name="connsiteY2" fmla="*/ 44487 h 136234"/>
                <a:gd name="connsiteX3" fmla="*/ 28634 w 54446"/>
                <a:gd name="connsiteY3" fmla="*/ 109205 h 136234"/>
                <a:gd name="connsiteX4" fmla="*/ 41534 w 54446"/>
                <a:gd name="connsiteY4" fmla="*/ 124133 h 136234"/>
                <a:gd name="connsiteX5" fmla="*/ 51408 w 54446"/>
                <a:gd name="connsiteY5" fmla="*/ 122094 h 136234"/>
                <a:gd name="connsiteX6" fmla="*/ 53642 w 54446"/>
                <a:gd name="connsiteY6" fmla="*/ 132173 h 136234"/>
                <a:gd name="connsiteX7" fmla="*/ 35892 w 54446"/>
                <a:gd name="connsiteY7" fmla="*/ 136234 h 136234"/>
                <a:gd name="connsiteX8" fmla="*/ 22787 w 54446"/>
                <a:gd name="connsiteY8" fmla="*/ 133401 h 136234"/>
                <a:gd name="connsiteX9" fmla="*/ 13098 w 54446"/>
                <a:gd name="connsiteY9" fmla="*/ 113454 h 136234"/>
                <a:gd name="connsiteX10" fmla="*/ 13098 w 54446"/>
                <a:gd name="connsiteY10" fmla="*/ 44487 h 136234"/>
                <a:gd name="connsiteX11" fmla="*/ 0 w 54446"/>
                <a:gd name="connsiteY11" fmla="*/ 44487 h 136234"/>
                <a:gd name="connsiteX12" fmla="*/ 0 w 54446"/>
                <a:gd name="connsiteY12" fmla="*/ 32594 h 136234"/>
                <a:gd name="connsiteX13" fmla="*/ 13922 w 54446"/>
                <a:gd name="connsiteY13" fmla="*/ 32594 h 136234"/>
                <a:gd name="connsiteX14" fmla="*/ 13922 w 54446"/>
                <a:gd name="connsiteY14" fmla="*/ 3068 h 136234"/>
                <a:gd name="connsiteX15" fmla="*/ 28782 w 54446"/>
                <a:gd name="connsiteY15" fmla="*/ 0 h 136234"/>
                <a:gd name="connsiteX16" fmla="*/ 28782 w 54446"/>
                <a:gd name="connsiteY16" fmla="*/ 32594 h 136234"/>
                <a:gd name="connsiteX17" fmla="*/ 54446 w 54446"/>
                <a:gd name="connsiteY17" fmla="*/ 32594 h 13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446" h="136234">
                  <a:moveTo>
                    <a:pt x="54446" y="32594"/>
                  </a:moveTo>
                  <a:lnTo>
                    <a:pt x="49595" y="44487"/>
                  </a:lnTo>
                  <a:lnTo>
                    <a:pt x="28634" y="44487"/>
                  </a:lnTo>
                  <a:lnTo>
                    <a:pt x="28634" y="109205"/>
                  </a:lnTo>
                  <a:cubicBezTo>
                    <a:pt x="28634" y="120280"/>
                    <a:pt x="31649" y="124133"/>
                    <a:pt x="41534" y="124133"/>
                  </a:cubicBezTo>
                  <a:cubicBezTo>
                    <a:pt x="45954" y="124133"/>
                    <a:pt x="48585" y="123534"/>
                    <a:pt x="51408" y="122094"/>
                  </a:cubicBezTo>
                  <a:lnTo>
                    <a:pt x="53642" y="132173"/>
                  </a:lnTo>
                  <a:cubicBezTo>
                    <a:pt x="48585" y="134808"/>
                    <a:pt x="42933" y="136234"/>
                    <a:pt x="35892" y="136234"/>
                  </a:cubicBezTo>
                  <a:cubicBezTo>
                    <a:pt x="30653" y="136234"/>
                    <a:pt x="26626" y="135218"/>
                    <a:pt x="22787" y="133401"/>
                  </a:cubicBezTo>
                  <a:cubicBezTo>
                    <a:pt x="15735" y="129987"/>
                    <a:pt x="13098" y="123537"/>
                    <a:pt x="13098" y="113454"/>
                  </a:cubicBezTo>
                  <a:lnTo>
                    <a:pt x="13098" y="44487"/>
                  </a:lnTo>
                  <a:lnTo>
                    <a:pt x="0" y="44487"/>
                  </a:lnTo>
                  <a:lnTo>
                    <a:pt x="0" y="32594"/>
                  </a:lnTo>
                  <a:lnTo>
                    <a:pt x="13922" y="32594"/>
                  </a:lnTo>
                  <a:lnTo>
                    <a:pt x="13922" y="3068"/>
                  </a:lnTo>
                  <a:lnTo>
                    <a:pt x="28782" y="0"/>
                  </a:lnTo>
                  <a:lnTo>
                    <a:pt x="28782" y="32594"/>
                  </a:lnTo>
                  <a:lnTo>
                    <a:pt x="54446" y="32594"/>
                  </a:lnTo>
                  <a:close/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1A97BC3-FF99-4DBD-9E8C-84B92CD642EE}"/>
                </a:ext>
              </a:extLst>
            </p:cNvPr>
            <p:cNvSpPr/>
            <p:nvPr/>
          </p:nvSpPr>
          <p:spPr>
            <a:xfrm>
              <a:off x="12001777" y="6590667"/>
              <a:ext cx="27160" cy="27143"/>
            </a:xfrm>
            <a:custGeom>
              <a:avLst/>
              <a:gdLst>
                <a:gd name="connsiteX0" fmla="*/ 16317 w 27160"/>
                <a:gd name="connsiteY0" fmla="*/ 10164 h 27143"/>
                <a:gd name="connsiteX1" fmla="*/ 15584 w 27160"/>
                <a:gd name="connsiteY1" fmla="*/ 12209 h 27143"/>
                <a:gd name="connsiteX2" fmla="*/ 12966 w 27160"/>
                <a:gd name="connsiteY2" fmla="*/ 12909 h 27143"/>
                <a:gd name="connsiteX3" fmla="*/ 11496 w 27160"/>
                <a:gd name="connsiteY3" fmla="*/ 12909 h 27143"/>
                <a:gd name="connsiteX4" fmla="*/ 11496 w 27160"/>
                <a:gd name="connsiteY4" fmla="*/ 7651 h 27143"/>
                <a:gd name="connsiteX5" fmla="*/ 13064 w 27160"/>
                <a:gd name="connsiteY5" fmla="*/ 7651 h 27143"/>
                <a:gd name="connsiteX6" fmla="*/ 14921 w 27160"/>
                <a:gd name="connsiteY6" fmla="*/ 7947 h 27143"/>
                <a:gd name="connsiteX7" fmla="*/ 16317 w 27160"/>
                <a:gd name="connsiteY7" fmla="*/ 10164 h 27143"/>
                <a:gd name="connsiteX8" fmla="*/ 19275 w 27160"/>
                <a:gd name="connsiteY8" fmla="*/ 21011 h 27143"/>
                <a:gd name="connsiteX9" fmla="*/ 17088 w 27160"/>
                <a:gd name="connsiteY9" fmla="*/ 17542 h 27143"/>
                <a:gd name="connsiteX10" fmla="*/ 15789 w 27160"/>
                <a:gd name="connsiteY10" fmla="*/ 15675 h 27143"/>
                <a:gd name="connsiteX11" fmla="*/ 14487 w 27160"/>
                <a:gd name="connsiteY11" fmla="*/ 14302 h 27143"/>
                <a:gd name="connsiteX12" fmla="*/ 18534 w 27160"/>
                <a:gd name="connsiteY12" fmla="*/ 10130 h 27143"/>
                <a:gd name="connsiteX13" fmla="*/ 17189 w 27160"/>
                <a:gd name="connsiteY13" fmla="*/ 7035 h 27143"/>
                <a:gd name="connsiteX14" fmla="*/ 13612 w 27160"/>
                <a:gd name="connsiteY14" fmla="*/ 5931 h 27143"/>
                <a:gd name="connsiteX15" fmla="*/ 9377 w 27160"/>
                <a:gd name="connsiteY15" fmla="*/ 5931 h 27143"/>
                <a:gd name="connsiteX16" fmla="*/ 9377 w 27160"/>
                <a:gd name="connsiteY16" fmla="*/ 21011 h 27143"/>
                <a:gd name="connsiteX17" fmla="*/ 11500 w 27160"/>
                <a:gd name="connsiteY17" fmla="*/ 21011 h 27143"/>
                <a:gd name="connsiteX18" fmla="*/ 11500 w 27160"/>
                <a:gd name="connsiteY18" fmla="*/ 14336 h 27143"/>
                <a:gd name="connsiteX19" fmla="*/ 12845 w 27160"/>
                <a:gd name="connsiteY19" fmla="*/ 15029 h 27143"/>
                <a:gd name="connsiteX20" fmla="*/ 15473 w 27160"/>
                <a:gd name="connsiteY20" fmla="*/ 18780 h 27143"/>
                <a:gd name="connsiteX21" fmla="*/ 16718 w 27160"/>
                <a:gd name="connsiteY21" fmla="*/ 21007 h 27143"/>
                <a:gd name="connsiteX22" fmla="*/ 19275 w 27160"/>
                <a:gd name="connsiteY22" fmla="*/ 21007 h 27143"/>
                <a:gd name="connsiteX23" fmla="*/ 0 w 27160"/>
                <a:gd name="connsiteY23" fmla="*/ 13572 h 27143"/>
                <a:gd name="connsiteX24" fmla="*/ 13572 w 27160"/>
                <a:gd name="connsiteY24" fmla="*/ 27144 h 27143"/>
                <a:gd name="connsiteX25" fmla="*/ 27161 w 27160"/>
                <a:gd name="connsiteY25" fmla="*/ 13572 h 27143"/>
                <a:gd name="connsiteX26" fmla="*/ 13572 w 27160"/>
                <a:gd name="connsiteY26" fmla="*/ 0 h 27143"/>
                <a:gd name="connsiteX27" fmla="*/ 0 w 27160"/>
                <a:gd name="connsiteY27" fmla="*/ 13572 h 27143"/>
                <a:gd name="connsiteX28" fmla="*/ 2416 w 27160"/>
                <a:gd name="connsiteY28" fmla="*/ 13572 h 27143"/>
                <a:gd name="connsiteX29" fmla="*/ 13572 w 27160"/>
                <a:gd name="connsiteY29" fmla="*/ 1958 h 27143"/>
                <a:gd name="connsiteX30" fmla="*/ 24738 w 27160"/>
                <a:gd name="connsiteY30" fmla="*/ 13572 h 27143"/>
                <a:gd name="connsiteX31" fmla="*/ 13572 w 27160"/>
                <a:gd name="connsiteY31" fmla="*/ 25176 h 27143"/>
                <a:gd name="connsiteX32" fmla="*/ 2416 w 27160"/>
                <a:gd name="connsiteY32" fmla="*/ 13572 h 2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160" h="27143">
                  <a:moveTo>
                    <a:pt x="16317" y="10164"/>
                  </a:moveTo>
                  <a:cubicBezTo>
                    <a:pt x="16317" y="11059"/>
                    <a:pt x="16021" y="11772"/>
                    <a:pt x="15584" y="12209"/>
                  </a:cubicBezTo>
                  <a:cubicBezTo>
                    <a:pt x="15046" y="12687"/>
                    <a:pt x="14309" y="12909"/>
                    <a:pt x="12966" y="12909"/>
                  </a:cubicBezTo>
                  <a:lnTo>
                    <a:pt x="11496" y="12909"/>
                  </a:lnTo>
                  <a:lnTo>
                    <a:pt x="11496" y="7651"/>
                  </a:lnTo>
                  <a:lnTo>
                    <a:pt x="13064" y="7651"/>
                  </a:lnTo>
                  <a:cubicBezTo>
                    <a:pt x="13861" y="7651"/>
                    <a:pt x="14484" y="7765"/>
                    <a:pt x="14921" y="7947"/>
                  </a:cubicBezTo>
                  <a:cubicBezTo>
                    <a:pt x="15732" y="8273"/>
                    <a:pt x="16317" y="9107"/>
                    <a:pt x="16317" y="10164"/>
                  </a:cubicBezTo>
                  <a:moveTo>
                    <a:pt x="19275" y="21011"/>
                  </a:moveTo>
                  <a:cubicBezTo>
                    <a:pt x="18979" y="20536"/>
                    <a:pt x="17740" y="18561"/>
                    <a:pt x="17088" y="17542"/>
                  </a:cubicBezTo>
                  <a:cubicBezTo>
                    <a:pt x="16570" y="16741"/>
                    <a:pt x="16119" y="16095"/>
                    <a:pt x="15789" y="15675"/>
                  </a:cubicBezTo>
                  <a:cubicBezTo>
                    <a:pt x="15564" y="15315"/>
                    <a:pt x="15177" y="14840"/>
                    <a:pt x="14487" y="14302"/>
                  </a:cubicBezTo>
                  <a:cubicBezTo>
                    <a:pt x="17000" y="14373"/>
                    <a:pt x="18534" y="12472"/>
                    <a:pt x="18534" y="10130"/>
                  </a:cubicBezTo>
                  <a:cubicBezTo>
                    <a:pt x="18534" y="8677"/>
                    <a:pt x="17889" y="7647"/>
                    <a:pt x="17189" y="7035"/>
                  </a:cubicBezTo>
                  <a:cubicBezTo>
                    <a:pt x="16452" y="6342"/>
                    <a:pt x="15406" y="5931"/>
                    <a:pt x="13612" y="5931"/>
                  </a:cubicBezTo>
                  <a:lnTo>
                    <a:pt x="9377" y="5931"/>
                  </a:lnTo>
                  <a:lnTo>
                    <a:pt x="9377" y="21011"/>
                  </a:lnTo>
                  <a:lnTo>
                    <a:pt x="11500" y="21011"/>
                  </a:lnTo>
                  <a:lnTo>
                    <a:pt x="11500" y="14336"/>
                  </a:lnTo>
                  <a:cubicBezTo>
                    <a:pt x="12112" y="14373"/>
                    <a:pt x="12435" y="14585"/>
                    <a:pt x="12845" y="15029"/>
                  </a:cubicBezTo>
                  <a:cubicBezTo>
                    <a:pt x="13939" y="16223"/>
                    <a:pt x="14309" y="16852"/>
                    <a:pt x="15473" y="18780"/>
                  </a:cubicBezTo>
                  <a:cubicBezTo>
                    <a:pt x="16058" y="19810"/>
                    <a:pt x="16287" y="20159"/>
                    <a:pt x="16718" y="21007"/>
                  </a:cubicBezTo>
                  <a:lnTo>
                    <a:pt x="19275" y="21007"/>
                  </a:lnTo>
                  <a:close/>
                  <a:moveTo>
                    <a:pt x="0" y="13572"/>
                  </a:moveTo>
                  <a:cubicBezTo>
                    <a:pt x="0" y="21297"/>
                    <a:pt x="6170" y="27144"/>
                    <a:pt x="13572" y="27144"/>
                  </a:cubicBezTo>
                  <a:cubicBezTo>
                    <a:pt x="20960" y="27144"/>
                    <a:pt x="27161" y="21297"/>
                    <a:pt x="27161" y="13572"/>
                  </a:cubicBezTo>
                  <a:cubicBezTo>
                    <a:pt x="27161" y="5824"/>
                    <a:pt x="20960" y="0"/>
                    <a:pt x="13572" y="0"/>
                  </a:cubicBezTo>
                  <a:cubicBezTo>
                    <a:pt x="6170" y="0"/>
                    <a:pt x="0" y="5824"/>
                    <a:pt x="0" y="13572"/>
                  </a:cubicBezTo>
                  <a:moveTo>
                    <a:pt x="2416" y="13572"/>
                  </a:moveTo>
                  <a:cubicBezTo>
                    <a:pt x="2416" y="6998"/>
                    <a:pt x="7348" y="1958"/>
                    <a:pt x="13572" y="1958"/>
                  </a:cubicBezTo>
                  <a:cubicBezTo>
                    <a:pt x="19769" y="1958"/>
                    <a:pt x="24738" y="6998"/>
                    <a:pt x="24738" y="13572"/>
                  </a:cubicBezTo>
                  <a:cubicBezTo>
                    <a:pt x="24738" y="20129"/>
                    <a:pt x="19769" y="25176"/>
                    <a:pt x="13572" y="25176"/>
                  </a:cubicBezTo>
                  <a:cubicBezTo>
                    <a:pt x="7348" y="25172"/>
                    <a:pt x="2416" y="20129"/>
                    <a:pt x="2416" y="13572"/>
                  </a:cubicBezTo>
                </a:path>
              </a:pathLst>
            </a:custGeom>
            <a:solidFill>
              <a:srgbClr val="464547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FDCE85F9-EAAB-4F5E-8E03-9FEB33A29E9D}"/>
              </a:ext>
            </a:extLst>
          </p:cNvPr>
          <p:cNvSpPr txBox="1">
            <a:spLocks/>
          </p:cNvSpPr>
          <p:nvPr/>
        </p:nvSpPr>
        <p:spPr>
          <a:xfrm>
            <a:off x="332764" y="6576598"/>
            <a:ext cx="676451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C026648-BCB3-47E3-8128-611D1202DC8A}" type="slidenum">
              <a:rPr lang="en-US" sz="933" b="1" smtClean="0">
                <a:solidFill>
                  <a:srgbClr val="3397AE"/>
                </a:solidFill>
              </a:rPr>
              <a:pPr algn="ctr"/>
              <a:t>‹#›</a:t>
            </a:fld>
            <a:endParaRPr lang="en-US" sz="933" b="1" dirty="0">
              <a:solidFill>
                <a:srgbClr val="3397AE"/>
              </a:solidFill>
            </a:endParaRPr>
          </a:p>
        </p:txBody>
      </p:sp>
      <p:sp>
        <p:nvSpPr>
          <p:cNvPr id="41" name="Espaço Reservado para Texto 15">
            <a:extLst>
              <a:ext uri="{FF2B5EF4-FFF2-40B4-BE49-F238E27FC236}">
                <a16:creationId xmlns:a16="http://schemas.microsoft.com/office/drawing/2014/main" id="{397FA1B9-5D22-4A75-AA12-378081775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-16932"/>
            <a:ext cx="9471176" cy="874181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>
              <a:buFontTx/>
              <a:buNone/>
              <a:defRPr sz="20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375697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7374" y="6356354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C27F37-4D97-F84C-9FA0-B0298962BDCE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3B05C3-3190-F59C-9C94-3EB166BB9B2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1503" y="6413767"/>
            <a:ext cx="809950" cy="241967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5EA2EC68-0B0C-3FC1-F549-482519B0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202"/>
            <a:ext cx="11014075" cy="443201"/>
          </a:xfrm>
          <a:prstGeom prst="rect">
            <a:avLst/>
          </a:prstGeom>
        </p:spPr>
        <p:txBody>
          <a:bodyPr vert="horz" lIns="0" tIns="45720" rIns="0" bIns="45720" rtlCol="0" anchor="b" anchorCtr="0">
            <a:noAutofit/>
          </a:bodyPr>
          <a:lstStyle/>
          <a:p>
            <a:r>
              <a:rPr lang="en-GB">
                <a:solidFill>
                  <a:schemeClr val="accent1"/>
                </a:solidFill>
              </a:rPr>
              <a:t>Insert slide title here and here and here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7D04BA-3484-50DC-30E0-C28093D79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8514" y="6356354"/>
            <a:ext cx="6173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2024 Protiviti – Confidential. An Equal Opportunity Employer M/F/Disability/Veterans. Protiviti is not licensed or registered as a public accounting firm and does not issue opinions on financial statements or offer attestation services. All registered trademarks are the property of their respective owners.</a:t>
            </a:r>
          </a:p>
        </p:txBody>
      </p:sp>
    </p:spTree>
    <p:extLst>
      <p:ext uri="{BB962C8B-B14F-4D97-AF65-F5344CB8AC3E}">
        <p14:creationId xmlns:p14="http://schemas.microsoft.com/office/powerpoint/2010/main" val="277203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63" r:id="rId2"/>
    <p:sldLayoutId id="2147483868" r:id="rId3"/>
    <p:sldLayoutId id="2147483897" r:id="rId4"/>
    <p:sldLayoutId id="2147483899" r:id="rId5"/>
  </p:sldLayoutIdLst>
  <p:hf hdr="0" dt="0"/>
  <p:txStyles>
    <p:titleStyle>
      <a:lvl1pPr marL="0" marR="0" indent="0" algn="l" defTabSz="45718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kern="1200">
          <a:solidFill>
            <a:schemeClr val="accent1"/>
          </a:solidFill>
          <a:latin typeface="Barlow Condensed Light" pitchFamily="2" charset="77"/>
          <a:ea typeface="+mj-ea"/>
          <a:cs typeface="+mj-cs"/>
        </a:defRPr>
      </a:lvl1pPr>
    </p:titleStyle>
    <p:bodyStyle>
      <a:lvl1pPr marL="9525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1"/>
        </a:spcAft>
        <a:buFont typeface="Arial" panose="020B0604020202020204" pitchFamily="34" charset="0"/>
        <a:buNone/>
        <a:tabLst/>
        <a:defRPr sz="140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5" algn="l" defTabSz="914377" rtl="0" eaLnBrk="1" latinLnBrk="0" hangingPunct="1">
        <a:lnSpc>
          <a:spcPct val="100000"/>
        </a:lnSpc>
        <a:spcBef>
          <a:spcPts val="0"/>
        </a:spcBef>
        <a:spcAft>
          <a:spcPts val="601"/>
        </a:spcAft>
        <a:buFont typeface="Arial" panose="020B0604020202020204" pitchFamily="34" charset="0"/>
        <a:buChar char="•"/>
        <a:defRPr sz="140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0" indent="-228595" algn="l" defTabSz="914377" rtl="0" eaLnBrk="1" latinLnBrk="0" hangingPunct="1">
        <a:lnSpc>
          <a:spcPct val="100000"/>
        </a:lnSpc>
        <a:spcBef>
          <a:spcPts val="0"/>
        </a:spcBef>
        <a:spcAft>
          <a:spcPts val="601"/>
        </a:spcAft>
        <a:buFont typeface="Arial" panose="020B0604020202020204" pitchFamily="34" charset="0"/>
        <a:buChar char="•"/>
        <a:defRPr sz="140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1" indent="-228595" algn="l" defTabSz="914377" rtl="0" eaLnBrk="1" latinLnBrk="0" hangingPunct="1">
        <a:lnSpc>
          <a:spcPct val="100000"/>
        </a:lnSpc>
        <a:spcBef>
          <a:spcPts val="0"/>
        </a:spcBef>
        <a:spcAft>
          <a:spcPts val="601"/>
        </a:spcAft>
        <a:buFont typeface="Arial" panose="020B0604020202020204" pitchFamily="34" charset="0"/>
        <a:buChar char="•"/>
        <a:defRPr sz="140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50" indent="-228595" algn="l" defTabSz="914377" rtl="0" eaLnBrk="1" latinLnBrk="0" hangingPunct="1">
        <a:lnSpc>
          <a:spcPct val="100000"/>
        </a:lnSpc>
        <a:spcBef>
          <a:spcPts val="0"/>
        </a:spcBef>
        <a:spcAft>
          <a:spcPts val="601"/>
        </a:spcAft>
        <a:buFont typeface="Arial" panose="020B0604020202020204" pitchFamily="34" charset="0"/>
        <a:buChar char="•"/>
        <a:defRPr sz="140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5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640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370">
          <p15:clr>
            <a:srgbClr val="F26B43"/>
          </p15:clr>
        </p15:guide>
        <p15:guide id="6" pos="7310">
          <p15:clr>
            <a:srgbClr val="F26B43"/>
          </p15:clr>
        </p15:guide>
        <p15:guide id="7" orient="horz" pos="3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CDIPlatform.support@protivitiglobal.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BF1F8-2DC8-4F29-FBF8-970EC8F440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8" y="1713297"/>
            <a:ext cx="6884456" cy="1616203"/>
          </a:xfrm>
        </p:spPr>
        <p:txBody>
          <a:bodyPr/>
          <a:lstStyle/>
          <a:p>
            <a:r>
              <a:rPr lang="en-GB"/>
              <a:t>Operational Readiness – CDI Data Platform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82FE992-53E0-B3DB-D442-271998B71D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Sep </a:t>
            </a:r>
            <a:r>
              <a:rPr lang="en-GB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59103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CEA2-56FD-5070-1647-59A96879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7B110E-315D-B112-08AD-AAFC6405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48366B-B9FF-0A0D-B4DF-04991FAB1BF4}"/>
              </a:ext>
            </a:extLst>
          </p:cNvPr>
          <p:cNvGrpSpPr/>
          <p:nvPr/>
        </p:nvGrpSpPr>
        <p:grpSpPr>
          <a:xfrm>
            <a:off x="587374" y="1443460"/>
            <a:ext cx="445203" cy="468080"/>
            <a:chOff x="11157145" y="5574853"/>
            <a:chExt cx="444304" cy="467135"/>
          </a:xfrm>
        </p:grpSpPr>
        <p:sp>
          <p:nvSpPr>
            <p:cNvPr id="8" name="Rectangle: Diagonal Corners Snipped 9">
              <a:extLst>
                <a:ext uri="{FF2B5EF4-FFF2-40B4-BE49-F238E27FC236}">
                  <a16:creationId xmlns:a16="http://schemas.microsoft.com/office/drawing/2014/main" id="{1D0E040E-7224-1C54-0E32-8102DB0982FB}"/>
                </a:ext>
              </a:extLst>
            </p:cNvPr>
            <p:cNvSpPr>
              <a:spLocks/>
            </p:cNvSpPr>
            <p:nvPr/>
          </p:nvSpPr>
          <p:spPr>
            <a:xfrm>
              <a:off x="11210485" y="5633018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19160"/>
              <a:endParaRPr lang="en-US" sz="2400">
                <a:solidFill>
                  <a:srgbClr val="FFFFFF"/>
                </a:solidFill>
                <a:latin typeface="Barlow Condensed" panose="00000506000000000000" pitchFamily="2" charset="0"/>
              </a:endParaRPr>
            </a:p>
          </p:txBody>
        </p:sp>
        <p:sp>
          <p:nvSpPr>
            <p:cNvPr id="9" name="Rectangle: Diagonal Corners Snipped 10">
              <a:extLst>
                <a:ext uri="{FF2B5EF4-FFF2-40B4-BE49-F238E27FC236}">
                  <a16:creationId xmlns:a16="http://schemas.microsoft.com/office/drawing/2014/main" id="{C59134DF-162B-376A-8DD7-4827F3FD11BD}"/>
                </a:ext>
              </a:extLst>
            </p:cNvPr>
            <p:cNvSpPr>
              <a:spLocks/>
            </p:cNvSpPr>
            <p:nvPr/>
          </p:nvSpPr>
          <p:spPr>
            <a:xfrm>
              <a:off x="11157145" y="5574853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219160"/>
              <a:r>
                <a:rPr lang="en-US" sz="2000">
                  <a:solidFill>
                    <a:srgbClr val="FFFFFF"/>
                  </a:solidFill>
                  <a:latin typeface="Barlow Condensed" panose="00000506000000000000" pitchFamily="2" charset="0"/>
                </a:rPr>
                <a:t>03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A1F9C12-EE30-44D5-8416-C7366F9DC846}"/>
              </a:ext>
            </a:extLst>
          </p:cNvPr>
          <p:cNvSpPr txBox="1"/>
          <p:nvPr/>
        </p:nvSpPr>
        <p:spPr>
          <a:xfrm>
            <a:off x="1259300" y="1556616"/>
            <a:ext cx="6596392" cy="260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b="1"/>
              <a:t>Support Coverage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13843-986C-E33D-3224-4E5CB50048A2}"/>
              </a:ext>
            </a:extLst>
          </p:cNvPr>
          <p:cNvGrpSpPr/>
          <p:nvPr/>
        </p:nvGrpSpPr>
        <p:grpSpPr>
          <a:xfrm>
            <a:off x="587374" y="2315913"/>
            <a:ext cx="445203" cy="468080"/>
            <a:chOff x="11157145" y="5574853"/>
            <a:chExt cx="444304" cy="467135"/>
          </a:xfrm>
        </p:grpSpPr>
        <p:sp>
          <p:nvSpPr>
            <p:cNvPr id="11" name="Rectangle: Diagonal Corners Snipped 12">
              <a:extLst>
                <a:ext uri="{FF2B5EF4-FFF2-40B4-BE49-F238E27FC236}">
                  <a16:creationId xmlns:a16="http://schemas.microsoft.com/office/drawing/2014/main" id="{6A0DE4DA-AB13-1D58-19D9-19CC8F4BF77C}"/>
                </a:ext>
              </a:extLst>
            </p:cNvPr>
            <p:cNvSpPr>
              <a:spLocks/>
            </p:cNvSpPr>
            <p:nvPr/>
          </p:nvSpPr>
          <p:spPr>
            <a:xfrm>
              <a:off x="11210485" y="5633018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19160"/>
              <a:endParaRPr lang="en-US" sz="2400">
                <a:solidFill>
                  <a:srgbClr val="FFFFFF"/>
                </a:solidFill>
                <a:latin typeface="Barlow Condensed" panose="00000506000000000000" pitchFamily="2" charset="0"/>
              </a:endParaRPr>
            </a:p>
          </p:txBody>
        </p:sp>
        <p:sp>
          <p:nvSpPr>
            <p:cNvPr id="12" name="Rectangle: Diagonal Corners Snipped 13">
              <a:extLst>
                <a:ext uri="{FF2B5EF4-FFF2-40B4-BE49-F238E27FC236}">
                  <a16:creationId xmlns:a16="http://schemas.microsoft.com/office/drawing/2014/main" id="{B1A95FB1-C296-DF72-ECF5-D5328688C5F7}"/>
                </a:ext>
              </a:extLst>
            </p:cNvPr>
            <p:cNvSpPr>
              <a:spLocks/>
            </p:cNvSpPr>
            <p:nvPr/>
          </p:nvSpPr>
          <p:spPr>
            <a:xfrm>
              <a:off x="11157145" y="5574853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219160"/>
              <a:r>
                <a:rPr lang="en-US" sz="2000">
                  <a:solidFill>
                    <a:srgbClr val="FFFFFF"/>
                  </a:solidFill>
                  <a:latin typeface="Barlow Condensed" panose="00000506000000000000" pitchFamily="2" charset="0"/>
                </a:rPr>
                <a:t>04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5080B56-B559-C2D9-47C0-DCA1C8730CFE}"/>
              </a:ext>
            </a:extLst>
          </p:cNvPr>
          <p:cNvSpPr txBox="1"/>
          <p:nvPr/>
        </p:nvSpPr>
        <p:spPr>
          <a:xfrm>
            <a:off x="1259300" y="2429071"/>
            <a:ext cx="6596392" cy="260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In Scope Activities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C6D7A4-577C-5D23-01C3-CC8A4818595B}"/>
              </a:ext>
            </a:extLst>
          </p:cNvPr>
          <p:cNvGrpSpPr/>
          <p:nvPr/>
        </p:nvGrpSpPr>
        <p:grpSpPr>
          <a:xfrm>
            <a:off x="587374" y="3188366"/>
            <a:ext cx="445203" cy="468080"/>
            <a:chOff x="11157145" y="5574853"/>
            <a:chExt cx="444304" cy="467135"/>
          </a:xfrm>
        </p:grpSpPr>
        <p:sp>
          <p:nvSpPr>
            <p:cNvPr id="14" name="Rectangle: Diagonal Corners Snipped 15">
              <a:extLst>
                <a:ext uri="{FF2B5EF4-FFF2-40B4-BE49-F238E27FC236}">
                  <a16:creationId xmlns:a16="http://schemas.microsoft.com/office/drawing/2014/main" id="{F92C0BCE-4C31-90E1-5319-3F55C65D5636}"/>
                </a:ext>
              </a:extLst>
            </p:cNvPr>
            <p:cNvSpPr>
              <a:spLocks/>
            </p:cNvSpPr>
            <p:nvPr/>
          </p:nvSpPr>
          <p:spPr>
            <a:xfrm>
              <a:off x="11210485" y="5633018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19160"/>
              <a:endParaRPr lang="en-US" sz="2400">
                <a:solidFill>
                  <a:srgbClr val="FFFFFF"/>
                </a:solidFill>
                <a:latin typeface="Barlow Condensed" panose="00000506000000000000" pitchFamily="2" charset="0"/>
              </a:endParaRPr>
            </a:p>
          </p:txBody>
        </p:sp>
        <p:sp>
          <p:nvSpPr>
            <p:cNvPr id="15" name="Rectangle: Diagonal Corners Snipped 16">
              <a:extLst>
                <a:ext uri="{FF2B5EF4-FFF2-40B4-BE49-F238E27FC236}">
                  <a16:creationId xmlns:a16="http://schemas.microsoft.com/office/drawing/2014/main" id="{CC14C3A7-EF1D-F101-9837-9683724AC603}"/>
                </a:ext>
              </a:extLst>
            </p:cNvPr>
            <p:cNvSpPr>
              <a:spLocks/>
            </p:cNvSpPr>
            <p:nvPr/>
          </p:nvSpPr>
          <p:spPr>
            <a:xfrm>
              <a:off x="11157145" y="5574853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219160"/>
              <a:r>
                <a:rPr lang="en-US" sz="2000">
                  <a:solidFill>
                    <a:srgbClr val="FFFFFF"/>
                  </a:solidFill>
                  <a:latin typeface="Barlow Condensed" panose="00000506000000000000" pitchFamily="2" charset="0"/>
                </a:rPr>
                <a:t>07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AC8579E-ED03-A5CD-FC25-426BFC138146}"/>
              </a:ext>
            </a:extLst>
          </p:cNvPr>
          <p:cNvSpPr txBox="1"/>
          <p:nvPr/>
        </p:nvSpPr>
        <p:spPr>
          <a:xfrm>
            <a:off x="1259300" y="3292231"/>
            <a:ext cx="6596392" cy="260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Out Of Scope Activities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648AA9-2AE3-8562-9799-1168588050FB}"/>
              </a:ext>
            </a:extLst>
          </p:cNvPr>
          <p:cNvGrpSpPr/>
          <p:nvPr/>
        </p:nvGrpSpPr>
        <p:grpSpPr>
          <a:xfrm>
            <a:off x="587374" y="4060818"/>
            <a:ext cx="445203" cy="468080"/>
            <a:chOff x="11157145" y="5574853"/>
            <a:chExt cx="444304" cy="467135"/>
          </a:xfrm>
        </p:grpSpPr>
        <p:sp>
          <p:nvSpPr>
            <p:cNvPr id="17" name="Rectangle: Diagonal Corners Snipped 18">
              <a:extLst>
                <a:ext uri="{FF2B5EF4-FFF2-40B4-BE49-F238E27FC236}">
                  <a16:creationId xmlns:a16="http://schemas.microsoft.com/office/drawing/2014/main" id="{DB88FA87-5852-9FB6-6170-FD6608F8D87E}"/>
                </a:ext>
              </a:extLst>
            </p:cNvPr>
            <p:cNvSpPr>
              <a:spLocks/>
            </p:cNvSpPr>
            <p:nvPr/>
          </p:nvSpPr>
          <p:spPr>
            <a:xfrm>
              <a:off x="11210485" y="5633018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19160"/>
              <a:endParaRPr lang="en-US" sz="2400">
                <a:solidFill>
                  <a:srgbClr val="FFFFFF"/>
                </a:solidFill>
                <a:latin typeface="Barlow Condensed" panose="00000506000000000000" pitchFamily="2" charset="0"/>
              </a:endParaRPr>
            </a:p>
          </p:txBody>
        </p:sp>
        <p:sp>
          <p:nvSpPr>
            <p:cNvPr id="18" name="Rectangle: Diagonal Corners Snipped 19">
              <a:extLst>
                <a:ext uri="{FF2B5EF4-FFF2-40B4-BE49-F238E27FC236}">
                  <a16:creationId xmlns:a16="http://schemas.microsoft.com/office/drawing/2014/main" id="{ED8FF2F4-79BA-7541-E234-771248863BF5}"/>
                </a:ext>
              </a:extLst>
            </p:cNvPr>
            <p:cNvSpPr>
              <a:spLocks/>
            </p:cNvSpPr>
            <p:nvPr/>
          </p:nvSpPr>
          <p:spPr>
            <a:xfrm>
              <a:off x="11157145" y="5574853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219160"/>
              <a:r>
                <a:rPr lang="en-US" sz="2000">
                  <a:solidFill>
                    <a:srgbClr val="FFFFFF"/>
                  </a:solidFill>
                  <a:latin typeface="Barlow Condensed" panose="00000506000000000000" pitchFamily="2" charset="0"/>
                </a:rPr>
                <a:t>08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4835944-109E-1F71-049B-97F542DADAA8}"/>
              </a:ext>
            </a:extLst>
          </p:cNvPr>
          <p:cNvSpPr txBox="1"/>
          <p:nvPr/>
        </p:nvSpPr>
        <p:spPr>
          <a:xfrm>
            <a:off x="1259300" y="4164683"/>
            <a:ext cx="6596392" cy="260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Our Proposed Approach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E7A3AC-6167-BAE9-1D59-70DF810AC354}"/>
              </a:ext>
            </a:extLst>
          </p:cNvPr>
          <p:cNvGrpSpPr/>
          <p:nvPr/>
        </p:nvGrpSpPr>
        <p:grpSpPr>
          <a:xfrm>
            <a:off x="587374" y="4933271"/>
            <a:ext cx="445203" cy="468080"/>
            <a:chOff x="11157145" y="5574853"/>
            <a:chExt cx="444304" cy="467135"/>
          </a:xfrm>
        </p:grpSpPr>
        <p:sp>
          <p:nvSpPr>
            <p:cNvPr id="20" name="Rectangle: Diagonal Corners Snipped 21">
              <a:extLst>
                <a:ext uri="{FF2B5EF4-FFF2-40B4-BE49-F238E27FC236}">
                  <a16:creationId xmlns:a16="http://schemas.microsoft.com/office/drawing/2014/main" id="{ABD7EB87-634B-71D8-A614-CEDB8BCC4472}"/>
                </a:ext>
              </a:extLst>
            </p:cNvPr>
            <p:cNvSpPr>
              <a:spLocks/>
            </p:cNvSpPr>
            <p:nvPr/>
          </p:nvSpPr>
          <p:spPr>
            <a:xfrm>
              <a:off x="11210485" y="5633018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19160"/>
              <a:endParaRPr lang="en-US" sz="2400">
                <a:solidFill>
                  <a:srgbClr val="FFFFFF"/>
                </a:solidFill>
                <a:latin typeface="Barlow Condensed" panose="00000506000000000000" pitchFamily="2" charset="0"/>
              </a:endParaRPr>
            </a:p>
          </p:txBody>
        </p:sp>
        <p:sp>
          <p:nvSpPr>
            <p:cNvPr id="21" name="Rectangle: Diagonal Corners Snipped 22">
              <a:extLst>
                <a:ext uri="{FF2B5EF4-FFF2-40B4-BE49-F238E27FC236}">
                  <a16:creationId xmlns:a16="http://schemas.microsoft.com/office/drawing/2014/main" id="{BB83BCF7-3ECD-D65B-B61F-84170FB45DD8}"/>
                </a:ext>
              </a:extLst>
            </p:cNvPr>
            <p:cNvSpPr>
              <a:spLocks/>
            </p:cNvSpPr>
            <p:nvPr/>
          </p:nvSpPr>
          <p:spPr>
            <a:xfrm>
              <a:off x="11157145" y="5574853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219160"/>
              <a:r>
                <a:rPr lang="en-US" sz="2000">
                  <a:solidFill>
                    <a:srgbClr val="FFFFFF"/>
                  </a:solidFill>
                  <a:latin typeface="Barlow Condensed" panose="00000506000000000000" pitchFamily="2" charset="0"/>
                </a:rPr>
                <a:t>09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22FBF11-5CB6-D1EC-7685-A1BD0E5987CE}"/>
              </a:ext>
            </a:extLst>
          </p:cNvPr>
          <p:cNvSpPr txBox="1"/>
          <p:nvPr/>
        </p:nvSpPr>
        <p:spPr>
          <a:xfrm>
            <a:off x="1259300" y="5037136"/>
            <a:ext cx="6596392" cy="260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Communication Channels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AB4B45D-0B72-3D12-EE94-9555F6AFFC7C}"/>
              </a:ext>
            </a:extLst>
          </p:cNvPr>
          <p:cNvSpPr/>
          <p:nvPr/>
        </p:nvSpPr>
        <p:spPr>
          <a:xfrm>
            <a:off x="11548288" y="4701483"/>
            <a:ext cx="64815" cy="64815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67"/>
            <a:endParaRPr lang="en-US" sz="18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8C0835-BDAA-E730-EC45-695B5E1D37B9}"/>
              </a:ext>
            </a:extLst>
          </p:cNvPr>
          <p:cNvSpPr/>
          <p:nvPr/>
        </p:nvSpPr>
        <p:spPr>
          <a:xfrm>
            <a:off x="11548288" y="3829030"/>
            <a:ext cx="64815" cy="64815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67"/>
            <a:endParaRPr lang="en-US" sz="18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6FBAA55-B195-304C-B5D6-8BEE6E93DCE7}"/>
              </a:ext>
            </a:extLst>
          </p:cNvPr>
          <p:cNvSpPr/>
          <p:nvPr/>
        </p:nvSpPr>
        <p:spPr>
          <a:xfrm>
            <a:off x="11548288" y="2956577"/>
            <a:ext cx="64815" cy="64815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67"/>
            <a:endParaRPr lang="en-US" sz="18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F14BE5-01F8-0BD8-C845-6CE29A79116A}"/>
              </a:ext>
            </a:extLst>
          </p:cNvPr>
          <p:cNvSpPr/>
          <p:nvPr/>
        </p:nvSpPr>
        <p:spPr>
          <a:xfrm>
            <a:off x="11548288" y="2084125"/>
            <a:ext cx="64815" cy="64815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67"/>
            <a:endParaRPr lang="en-US" sz="1800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9EF43D-4FAA-385A-8214-51FDAB69806C}"/>
              </a:ext>
            </a:extLst>
          </p:cNvPr>
          <p:cNvGrpSpPr/>
          <p:nvPr/>
        </p:nvGrpSpPr>
        <p:grpSpPr>
          <a:xfrm>
            <a:off x="587374" y="5805719"/>
            <a:ext cx="445203" cy="468080"/>
            <a:chOff x="11157145" y="5574853"/>
            <a:chExt cx="444304" cy="467135"/>
          </a:xfrm>
        </p:grpSpPr>
        <p:sp>
          <p:nvSpPr>
            <p:cNvPr id="39" name="Rectangle: Diagonal Corners Snipped 21">
              <a:extLst>
                <a:ext uri="{FF2B5EF4-FFF2-40B4-BE49-F238E27FC236}">
                  <a16:creationId xmlns:a16="http://schemas.microsoft.com/office/drawing/2014/main" id="{29F68B95-F158-2803-3E17-97734111F5AA}"/>
                </a:ext>
              </a:extLst>
            </p:cNvPr>
            <p:cNvSpPr>
              <a:spLocks/>
            </p:cNvSpPr>
            <p:nvPr/>
          </p:nvSpPr>
          <p:spPr>
            <a:xfrm>
              <a:off x="11210485" y="5633018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19160"/>
              <a:endParaRPr lang="en-US" sz="2400">
                <a:solidFill>
                  <a:srgbClr val="FFFFFF"/>
                </a:solidFill>
                <a:latin typeface="Barlow Condensed" panose="00000506000000000000" pitchFamily="2" charset="0"/>
              </a:endParaRPr>
            </a:p>
          </p:txBody>
        </p:sp>
        <p:sp>
          <p:nvSpPr>
            <p:cNvPr id="40" name="Rectangle: Diagonal Corners Snipped 22">
              <a:extLst>
                <a:ext uri="{FF2B5EF4-FFF2-40B4-BE49-F238E27FC236}">
                  <a16:creationId xmlns:a16="http://schemas.microsoft.com/office/drawing/2014/main" id="{580A5C67-C9F6-8526-ACE9-748A6E3C408B}"/>
                </a:ext>
              </a:extLst>
            </p:cNvPr>
            <p:cNvSpPr>
              <a:spLocks/>
            </p:cNvSpPr>
            <p:nvPr/>
          </p:nvSpPr>
          <p:spPr>
            <a:xfrm>
              <a:off x="11157145" y="5574853"/>
              <a:ext cx="390964" cy="408970"/>
            </a:xfrm>
            <a:prstGeom prst="snip2DiagRect">
              <a:avLst>
                <a:gd name="adj1" fmla="val 0"/>
                <a:gd name="adj2" fmla="val 99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219160"/>
              <a:r>
                <a:rPr lang="en-US" sz="2000">
                  <a:solidFill>
                    <a:srgbClr val="FFFFFF"/>
                  </a:solidFill>
                  <a:latin typeface="Barlow Condensed" panose="00000506000000000000" pitchFamily="2" charset="0"/>
                </a:rPr>
                <a:t>10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761317-6540-41B6-3F8B-147E9B1E73B9}"/>
              </a:ext>
            </a:extLst>
          </p:cNvPr>
          <p:cNvSpPr txBox="1"/>
          <p:nvPr/>
        </p:nvSpPr>
        <p:spPr>
          <a:xfrm>
            <a:off x="1259300" y="5909584"/>
            <a:ext cx="6596392" cy="260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Service Levels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391A646-5C65-A244-4B5F-D0BA2E3EBF76}"/>
              </a:ext>
            </a:extLst>
          </p:cNvPr>
          <p:cNvGrpSpPr/>
          <p:nvPr/>
        </p:nvGrpSpPr>
        <p:grpSpPr>
          <a:xfrm>
            <a:off x="1259296" y="2111876"/>
            <a:ext cx="10353807" cy="3491661"/>
            <a:chOff x="1259296" y="2111876"/>
            <a:chExt cx="10648309" cy="349166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F1450AA-2A1A-580D-84EA-EAF7BE70D794}"/>
                </a:ext>
              </a:extLst>
            </p:cNvPr>
            <p:cNvCxnSpPr>
              <a:cxnSpLocks/>
            </p:cNvCxnSpPr>
            <p:nvPr/>
          </p:nvCxnSpPr>
          <p:spPr>
            <a:xfrm>
              <a:off x="1259296" y="4730753"/>
              <a:ext cx="1064830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8201699-C257-3D47-A196-D78969B2B8B0}"/>
                </a:ext>
              </a:extLst>
            </p:cNvPr>
            <p:cNvCxnSpPr>
              <a:cxnSpLocks/>
            </p:cNvCxnSpPr>
            <p:nvPr/>
          </p:nvCxnSpPr>
          <p:spPr>
            <a:xfrm>
              <a:off x="1259296" y="3864886"/>
              <a:ext cx="1064830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9E460B4-4569-1FD4-F9DC-05BE40D6CEF9}"/>
                </a:ext>
              </a:extLst>
            </p:cNvPr>
            <p:cNvCxnSpPr>
              <a:cxnSpLocks/>
            </p:cNvCxnSpPr>
            <p:nvPr/>
          </p:nvCxnSpPr>
          <p:spPr>
            <a:xfrm>
              <a:off x="1259296" y="2985377"/>
              <a:ext cx="1064830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A859DFD-74C8-FBBE-D9B7-2E00CD7069B0}"/>
                </a:ext>
              </a:extLst>
            </p:cNvPr>
            <p:cNvCxnSpPr>
              <a:cxnSpLocks/>
            </p:cNvCxnSpPr>
            <p:nvPr/>
          </p:nvCxnSpPr>
          <p:spPr>
            <a:xfrm>
              <a:off x="1259296" y="2111876"/>
              <a:ext cx="1064830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FB2A9-447E-69A2-0070-B59B3766D2D2}"/>
                </a:ext>
              </a:extLst>
            </p:cNvPr>
            <p:cNvCxnSpPr>
              <a:cxnSpLocks/>
            </p:cNvCxnSpPr>
            <p:nvPr/>
          </p:nvCxnSpPr>
          <p:spPr>
            <a:xfrm>
              <a:off x="1259296" y="5603537"/>
              <a:ext cx="1064830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9FC4A1C8-964D-E002-C4F9-22AB9C9FCED7}"/>
              </a:ext>
            </a:extLst>
          </p:cNvPr>
          <p:cNvSpPr/>
          <p:nvPr/>
        </p:nvSpPr>
        <p:spPr>
          <a:xfrm>
            <a:off x="11548288" y="5573936"/>
            <a:ext cx="64815" cy="64815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67"/>
            <a:endParaRPr lang="en-US" sz="180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1839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688E-40D3-342F-8398-90DE8E2B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0298F8-01D1-8BCC-AF6A-81965FDD34C9}"/>
              </a:ext>
            </a:extLst>
          </p:cNvPr>
          <p:cNvSpPr>
            <a:spLocks/>
          </p:cNvSpPr>
          <p:nvPr/>
        </p:nvSpPr>
        <p:spPr>
          <a:xfrm>
            <a:off x="3691466" y="1376363"/>
            <a:ext cx="8500533" cy="489743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alpha val="59000"/>
                </a:schemeClr>
              </a:gs>
              <a:gs pos="9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endParaRPr lang="en-US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DE3D7-6205-0699-70DA-74671AEB704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Support Coverage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60B066-B878-8683-39AC-5C42366ED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463263"/>
              </p:ext>
            </p:extLst>
          </p:nvPr>
        </p:nvGraphicFramePr>
        <p:xfrm>
          <a:off x="587374" y="1376363"/>
          <a:ext cx="8834212" cy="48974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8281">
                  <a:extLst>
                    <a:ext uri="{9D8B030D-6E8A-4147-A177-3AD203B41FA5}">
                      <a16:colId xmlns:a16="http://schemas.microsoft.com/office/drawing/2014/main" val="271304996"/>
                    </a:ext>
                  </a:extLst>
                </a:gridCol>
                <a:gridCol w="5735931">
                  <a:extLst>
                    <a:ext uri="{9D8B030D-6E8A-4147-A177-3AD203B41FA5}">
                      <a16:colId xmlns:a16="http://schemas.microsoft.com/office/drawing/2014/main" val="3461461481"/>
                    </a:ext>
                  </a:extLst>
                </a:gridCol>
              </a:tblGrid>
              <a:tr h="879092">
                <a:tc>
                  <a:txBody>
                    <a:bodyPr/>
                    <a:lstStyle/>
                    <a:p>
                      <a:r>
                        <a:rPr lang="en-GB" sz="2000" b="0" i="0">
                          <a:solidFill>
                            <a:schemeClr val="accent2"/>
                          </a:solidFill>
                          <a:latin typeface="Barlow Condensed Medium" pitchFamily="2" charset="77"/>
                        </a:rPr>
                        <a:t>Functions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>
                          <a:solidFill>
                            <a:schemeClr val="bg1"/>
                          </a:solidFill>
                          <a:latin typeface="Barlow Condensed Medium" pitchFamily="2" charset="77"/>
                        </a:rPr>
                        <a:t>Baseline Scope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858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58679"/>
                  </a:ext>
                </a:extLst>
              </a:tr>
              <a:tr h="803669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Services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Defined in-scope services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858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45109"/>
                  </a:ext>
                </a:extLst>
              </a:tr>
              <a:tr h="803669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Language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English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858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36240"/>
                  </a:ext>
                </a:extLst>
              </a:tr>
              <a:tr h="803669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Support Hours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8*5 (India shift)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858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02248"/>
                  </a:ext>
                </a:extLst>
              </a:tr>
              <a:tr h="803669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Business support </a:t>
                      </a:r>
                    </a:p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Window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Monday to Friday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858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83722"/>
                  </a:ext>
                </a:extLst>
              </a:tr>
              <a:tr h="803669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Monitoring tools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Azure and Databricks monitoring tools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4858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256879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FB9733C-BBA8-4272-D518-A93A07B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74" y="6356354"/>
            <a:ext cx="2743200" cy="365125"/>
          </a:xfrm>
        </p:spPr>
        <p:txBody>
          <a:bodyPr/>
          <a:lstStyle/>
          <a:p>
            <a:fld id="{33C27F37-4D97-F84C-9FA0-B0298962BDCE}" type="slidenum">
              <a:rPr lang="en-US" smtClean="0"/>
              <a:t>3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0E456CE-FE70-B1CC-6955-BFB650C2F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3725" y="1659466"/>
            <a:ext cx="389467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7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7F446-224D-EE1A-5AD9-0335D0DFC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082" b="25946"/>
          <a:stretch/>
        </p:blipFill>
        <p:spPr>
          <a:xfrm>
            <a:off x="0" y="924"/>
            <a:ext cx="12192000" cy="29362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7373" y="6356352"/>
            <a:ext cx="2743200" cy="365125"/>
          </a:xfrm>
        </p:spPr>
        <p:txBody>
          <a:bodyPr/>
          <a:lstStyle/>
          <a:p>
            <a:pPr defTabSz="519475"/>
            <a:fld id="{1C026648-BCB3-47E3-8128-611D1202DC8A}" type="slidenum">
              <a:rPr lang="en-US">
                <a:solidFill>
                  <a:srgbClr val="000000"/>
                </a:solidFill>
              </a:rPr>
              <a:pPr defTabSz="519475"/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7373" y="584201"/>
            <a:ext cx="11014075" cy="443201"/>
          </a:xfrm>
        </p:spPr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Proposed Approach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50EF51-28B3-62B8-BF17-5A303F752335}"/>
              </a:ext>
            </a:extLst>
          </p:cNvPr>
          <p:cNvSpPr/>
          <p:nvPr/>
        </p:nvSpPr>
        <p:spPr>
          <a:xfrm>
            <a:off x="5765800" y="1724176"/>
            <a:ext cx="660399" cy="660399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r>
              <a:rPr lang="en-US" sz="2400">
                <a:solidFill>
                  <a:srgbClr val="FFFFFF"/>
                </a:solidFill>
                <a:latin typeface="Barlow Condensed Medium" panose="00000606000000000000" pitchFamily="2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AECF47-2A21-7591-EF2D-A2ED614A2F21}"/>
              </a:ext>
            </a:extLst>
          </p:cNvPr>
          <p:cNvSpPr/>
          <p:nvPr/>
        </p:nvSpPr>
        <p:spPr>
          <a:xfrm>
            <a:off x="9489087" y="1724176"/>
            <a:ext cx="660399" cy="660399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r>
              <a:rPr lang="en-US" sz="2400">
                <a:solidFill>
                  <a:srgbClr val="FFFFFF"/>
                </a:solidFill>
                <a:latin typeface="Barlow Condensed Medium" panose="00000606000000000000" pitchFamily="2" charset="0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7AF17E-0ECB-2B3C-9896-0E62E743442E}"/>
              </a:ext>
            </a:extLst>
          </p:cNvPr>
          <p:cNvSpPr/>
          <p:nvPr/>
        </p:nvSpPr>
        <p:spPr>
          <a:xfrm>
            <a:off x="2042514" y="1724176"/>
            <a:ext cx="660399" cy="660399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r>
              <a:rPr lang="en-US" sz="2400">
                <a:solidFill>
                  <a:srgbClr val="FFFFFF"/>
                </a:solidFill>
                <a:latin typeface="Barlow Condensed Medium" panose="00000606000000000000" pitchFamily="2" charset="0"/>
              </a:rPr>
              <a:t>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8C8436-B80E-7D35-55B1-F412760252F7}"/>
              </a:ext>
            </a:extLst>
          </p:cNvPr>
          <p:cNvGrpSpPr/>
          <p:nvPr/>
        </p:nvGrpSpPr>
        <p:grpSpPr>
          <a:xfrm>
            <a:off x="587375" y="2545357"/>
            <a:ext cx="11017250" cy="3728443"/>
            <a:chOff x="587375" y="3751056"/>
            <a:chExt cx="6573924" cy="372844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6C3795F-75A9-1DE0-9689-AC4474FE9234}"/>
                </a:ext>
              </a:extLst>
            </p:cNvPr>
            <p:cNvGrpSpPr/>
            <p:nvPr/>
          </p:nvGrpSpPr>
          <p:grpSpPr>
            <a:xfrm>
              <a:off x="587375" y="3751056"/>
              <a:ext cx="2130600" cy="3728443"/>
              <a:chOff x="587375" y="3751056"/>
              <a:chExt cx="2130600" cy="372844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FEB53E7-701E-C0C2-DA0A-800CB71724E1}"/>
                  </a:ext>
                </a:extLst>
              </p:cNvPr>
              <p:cNvSpPr/>
              <p:nvPr/>
            </p:nvSpPr>
            <p:spPr>
              <a:xfrm>
                <a:off x="587375" y="3751056"/>
                <a:ext cx="2130600" cy="660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defTabSz="457178"/>
                <a:r>
                  <a:rPr lang="en-GB" sz="2000">
                    <a:solidFill>
                      <a:schemeClr val="accent2"/>
                    </a:solidFill>
                    <a:latin typeface="Barlow Condensed Medium" pitchFamily="2" charset="77"/>
                    <a:ea typeface="+mj-ea"/>
                    <a:cs typeface="+mj-cs"/>
                  </a:rPr>
                  <a:t>Monitoring and Reporting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EF67949-2DE4-D495-6BFA-29553A91B7BF}"/>
                  </a:ext>
                </a:extLst>
              </p:cNvPr>
              <p:cNvSpPr/>
              <p:nvPr/>
            </p:nvSpPr>
            <p:spPr>
              <a:xfrm>
                <a:off x="655739" y="4551776"/>
                <a:ext cx="1927656" cy="29277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Monitoring &amp; Reporting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Monitoring of batch jobs &amp; background processes.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Raise incidents / tickets upon identification of issues.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Communication and Reporting on failures &amp; resolutions.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Plan to avoid repeated failures.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4124B3F-4D7E-B7A9-6AF1-AECD28EFDB5B}"/>
                </a:ext>
              </a:extLst>
            </p:cNvPr>
            <p:cNvGrpSpPr/>
            <p:nvPr/>
          </p:nvGrpSpPr>
          <p:grpSpPr>
            <a:xfrm>
              <a:off x="2809037" y="3751056"/>
              <a:ext cx="2130600" cy="3728443"/>
              <a:chOff x="2809037" y="3751056"/>
              <a:chExt cx="2130600" cy="372844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5E338C4-F2FD-EC18-0401-2BEE9A14090C}"/>
                  </a:ext>
                </a:extLst>
              </p:cNvPr>
              <p:cNvSpPr/>
              <p:nvPr/>
            </p:nvSpPr>
            <p:spPr>
              <a:xfrm>
                <a:off x="2809037" y="3751056"/>
                <a:ext cx="2130600" cy="660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defTabSz="457178"/>
                <a:r>
                  <a:rPr lang="en-GB" sz="2000">
                    <a:solidFill>
                      <a:schemeClr val="accent2"/>
                    </a:solidFill>
                    <a:latin typeface="Barlow Condensed Medium" pitchFamily="2" charset="77"/>
                    <a:ea typeface="+mj-ea"/>
                    <a:cs typeface="+mj-cs"/>
                  </a:rPr>
                  <a:t>Service Delivery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632B2EE-508E-8033-D5AA-E79A7AEFD54E}"/>
                  </a:ext>
                </a:extLst>
              </p:cNvPr>
              <p:cNvSpPr/>
              <p:nvPr/>
            </p:nvSpPr>
            <p:spPr>
              <a:xfrm>
                <a:off x="2885679" y="4551776"/>
                <a:ext cx="1927656" cy="29277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 dirty="0">
                    <a:solidFill>
                      <a:schemeClr val="tx1"/>
                    </a:solidFill>
                  </a:rPr>
                  <a:t>Monitor incident / ticket queue and follow incident management process.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 dirty="0">
                    <a:solidFill>
                      <a:schemeClr val="tx1"/>
                    </a:solidFill>
                  </a:rPr>
                  <a:t>Investigate incidents &amp; provide resolution.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 dirty="0">
                    <a:solidFill>
                      <a:schemeClr val="tx1"/>
                    </a:solidFill>
                  </a:rPr>
                  <a:t>Work with third party where needed to implement resolution.</a:t>
                </a:r>
              </a:p>
              <a:p>
                <a:pPr marL="173736" lvl="1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 dirty="0">
                    <a:solidFill>
                      <a:schemeClr val="tx1"/>
                    </a:solidFill>
                  </a:rPr>
                  <a:t>Support requests for </a:t>
                </a:r>
                <a:r>
                  <a:rPr lang="en-GB" sz="1400" kern="1200" dirty="0" err="1">
                    <a:solidFill>
                      <a:schemeClr val="tx1"/>
                    </a:solidFill>
                  </a:rPr>
                  <a:t>Adhoc</a:t>
                </a:r>
                <a:r>
                  <a:rPr lang="en-GB" sz="1400" kern="1200" dirty="0">
                    <a:solidFill>
                      <a:schemeClr val="tx1"/>
                    </a:solidFill>
                  </a:rPr>
                  <a:t>, historical data loads.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93933BA-F8C3-5FBE-0B69-0EFDA38F91CD}"/>
                </a:ext>
              </a:extLst>
            </p:cNvPr>
            <p:cNvGrpSpPr/>
            <p:nvPr/>
          </p:nvGrpSpPr>
          <p:grpSpPr>
            <a:xfrm>
              <a:off x="5030699" y="3751056"/>
              <a:ext cx="2130600" cy="3728443"/>
              <a:chOff x="5030699" y="3751056"/>
              <a:chExt cx="2130600" cy="372844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C5CA008-971D-8D52-A512-44C724223197}"/>
                  </a:ext>
                </a:extLst>
              </p:cNvPr>
              <p:cNvSpPr/>
              <p:nvPr/>
            </p:nvSpPr>
            <p:spPr>
              <a:xfrm>
                <a:off x="5030699" y="3751056"/>
                <a:ext cx="2130600" cy="660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defTabSz="457178"/>
                <a:r>
                  <a:rPr lang="en-GB" sz="2000">
                    <a:solidFill>
                      <a:schemeClr val="accent2"/>
                    </a:solidFill>
                    <a:latin typeface="Barlow Condensed Medium" pitchFamily="2" charset="77"/>
                    <a:ea typeface="+mj-ea"/>
                    <a:cs typeface="+mj-cs"/>
                  </a:rPr>
                  <a:t>Service Review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6ACB801-D927-F1B7-3126-49723891A0EE}"/>
                  </a:ext>
                </a:extLst>
              </p:cNvPr>
              <p:cNvSpPr/>
              <p:nvPr/>
            </p:nvSpPr>
            <p:spPr>
              <a:xfrm>
                <a:off x="5115617" y="4551776"/>
                <a:ext cx="1927656" cy="29277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0" lvl="1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</a:pPr>
                <a:r>
                  <a:rPr lang="en-GB" sz="1400" kern="1200">
                    <a:solidFill>
                      <a:schemeClr val="tx1"/>
                    </a:solidFill>
                  </a:rPr>
                  <a:t>We will conduct monthly service reviews with the following metrics reports:</a:t>
                </a:r>
              </a:p>
              <a:p>
                <a:pPr marL="173736" lvl="2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Total numbers of issues (as a control measure)</a:t>
                </a:r>
              </a:p>
              <a:p>
                <a:pPr marL="173736" lvl="2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Breakdown of problems at each stage (e.g. logged, work in progress, closed etc.)</a:t>
                </a:r>
              </a:p>
              <a:p>
                <a:pPr marL="173736" lvl="2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Size of current problem backlog</a:t>
                </a:r>
              </a:p>
              <a:p>
                <a:pPr marL="173736" lvl="2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 kern="1200">
                    <a:solidFill>
                      <a:schemeClr val="tx1"/>
                    </a:solidFill>
                  </a:rPr>
                  <a:t>Service Improvement</a:t>
                </a:r>
              </a:p>
              <a:p>
                <a:pPr marL="173736" lvl="2" indent="-173736" defTabSz="577850">
                  <a:spcBef>
                    <a:spcPts val="600"/>
                  </a:spcBef>
                  <a:spcAft>
                    <a:spcPts val="600"/>
                  </a:spcAft>
                  <a:buClr>
                    <a:srgbClr val="3C3D3E"/>
                  </a:buClr>
                  <a:buSzPct val="100000"/>
                  <a:buChar char="•"/>
                </a:pPr>
                <a:r>
                  <a:rPr lang="en-GB" sz="1400">
                    <a:solidFill>
                      <a:schemeClr val="tx1"/>
                    </a:solidFill>
                  </a:rPr>
                  <a:t>Feedback</a:t>
                </a:r>
                <a:endParaRPr lang="en-GB" sz="1400" kern="12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CC4C1964-9C50-5CB4-0B8B-1AA6BCE93FB7}"/>
              </a:ext>
            </a:extLst>
          </p:cNvPr>
          <p:cNvSpPr/>
          <p:nvPr/>
        </p:nvSpPr>
        <p:spPr>
          <a:xfrm>
            <a:off x="4191918" y="6237476"/>
            <a:ext cx="72645" cy="72643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9475"/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A25C00-58CA-B4BD-F6D4-181DE0D206DD}"/>
              </a:ext>
            </a:extLst>
          </p:cNvPr>
          <p:cNvGrpSpPr/>
          <p:nvPr/>
        </p:nvGrpSpPr>
        <p:grpSpPr>
          <a:xfrm>
            <a:off x="4228611" y="3109355"/>
            <a:ext cx="3749378" cy="3164446"/>
            <a:chOff x="4228611" y="3988305"/>
            <a:chExt cx="3749378" cy="2285495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9FA9193-C1B0-1495-633A-823302800CC7}"/>
                </a:ext>
              </a:extLst>
            </p:cNvPr>
            <p:cNvCxnSpPr>
              <a:cxnSpLocks/>
            </p:cNvCxnSpPr>
            <p:nvPr/>
          </p:nvCxnSpPr>
          <p:spPr>
            <a:xfrm>
              <a:off x="4228611" y="3988305"/>
              <a:ext cx="0" cy="22854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56B9C8C-6A0C-0679-7A75-C0CC0F054D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7989" y="3988305"/>
              <a:ext cx="0" cy="22854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E1F3A0E8-7113-29BD-3EF7-F3BD67E3B3CE}"/>
              </a:ext>
            </a:extLst>
          </p:cNvPr>
          <p:cNvSpPr/>
          <p:nvPr/>
        </p:nvSpPr>
        <p:spPr>
          <a:xfrm>
            <a:off x="7941296" y="6237476"/>
            <a:ext cx="72645" cy="72643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9475"/>
            <a:endParaRPr lang="en-US" sz="240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4035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64E226-2162-2474-21A8-995E8A77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BFB14-2412-BE20-D67A-C39CE99F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Indicative - In Scope Activities - Protiviti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5CD556-D58B-9346-4AFE-79F42FA6BD12}"/>
              </a:ext>
            </a:extLst>
          </p:cNvPr>
          <p:cNvGrpSpPr/>
          <p:nvPr/>
        </p:nvGrpSpPr>
        <p:grpSpPr>
          <a:xfrm>
            <a:off x="587374" y="1136473"/>
            <a:ext cx="1805869" cy="647015"/>
            <a:chOff x="587373" y="3606466"/>
            <a:chExt cx="1805869" cy="647014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BC32DBFE-4083-EE84-A835-279D781CAF2D}"/>
                </a:ext>
              </a:extLst>
            </p:cNvPr>
            <p:cNvSpPr txBox="1">
              <a:spLocks/>
            </p:cNvSpPr>
            <p:nvPr/>
          </p:nvSpPr>
          <p:spPr>
            <a:xfrm>
              <a:off x="595007" y="3606466"/>
              <a:ext cx="1798235" cy="647014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r>
                <a:rPr lang="en-GB" sz="2000" b="0">
                  <a:solidFill>
                    <a:schemeClr val="accent2"/>
                  </a:solidFill>
                  <a:latin typeface="Barlow Condensed Medium" pitchFamily="2" charset="77"/>
                </a:rPr>
                <a:t>Activities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2B26F7D-1065-A789-F61D-5C539575662E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3" y="4244134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E6076F7F-D13A-CFBC-87D8-5B7B36536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978" y="1323739"/>
            <a:ext cx="462844" cy="462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FE84BA-65DA-0DC1-F242-7AD31FAD3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95" y="5473"/>
            <a:ext cx="5182323" cy="6268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F54423-4F5A-0238-BDC3-E8B59953152D}"/>
              </a:ext>
            </a:extLst>
          </p:cNvPr>
          <p:cNvSpPr txBox="1"/>
          <p:nvPr/>
        </p:nvSpPr>
        <p:spPr>
          <a:xfrm>
            <a:off x="587374" y="1783455"/>
            <a:ext cx="6249606" cy="4213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200" b="1" dirty="0"/>
              <a:t>Monitoring &amp; Operations</a:t>
            </a:r>
            <a:endParaRPr lang="en-GB" sz="12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Proactively monitor Azure Data Factory pipelines for job schedules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Ensure smooth automation workflows through Logic App monitoring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Monitor Azure components within the hub environment for optimal performance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Keep a close watch on Databricks performance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Catch and dispatch auto-alert tickets to the appropriate next-level support groups</a:t>
            </a:r>
          </a:p>
          <a:p>
            <a:pPr algn="just">
              <a:lnSpc>
                <a:spcPct val="150000"/>
              </a:lnSpc>
            </a:pPr>
            <a:endParaRPr lang="en-GB" sz="1200" dirty="0"/>
          </a:p>
          <a:p>
            <a:pPr algn="just">
              <a:buNone/>
            </a:pPr>
            <a:r>
              <a:rPr lang="en-GB" sz="1200" b="1" dirty="0"/>
              <a:t>Incident &amp; Issue Management</a:t>
            </a:r>
            <a:endParaRPr lang="en-GB" sz="120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Identify and address application errors to maintain system stability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Handle retrigger and resubmission of failed pipelines to minimise disruptions</a:t>
            </a:r>
          </a:p>
          <a:p>
            <a:pPr algn="just">
              <a:lnSpc>
                <a:spcPct val="150000"/>
              </a:lnSpc>
            </a:pPr>
            <a:endParaRPr lang="en-GB" sz="1200" dirty="0"/>
          </a:p>
          <a:p>
            <a:pPr algn="just">
              <a:buNone/>
            </a:pPr>
            <a:r>
              <a:rPr lang="en-GB" sz="1200" b="1" dirty="0"/>
              <a:t>Governance, Reporting &amp; Continuous Improvement</a:t>
            </a:r>
            <a:endParaRPr lang="en-GB" sz="120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Manage necessary configuration changes, such as Key Vault modifications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Prepare and share Monthly Service Reports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Conduct periodic assessment of infra for capacity management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Maintain and refine auto-alerting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32316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2171-B849-5FA6-3A6E-623D9D6B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16CDB9-5929-ED69-C948-6E349E7E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F302C-5C20-4EFD-08FB-EFB503C9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Indicative - In Scope Activities - Protiviti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3B3A30-1384-263E-DE78-E99C90A06325}"/>
              </a:ext>
            </a:extLst>
          </p:cNvPr>
          <p:cNvGrpSpPr/>
          <p:nvPr/>
        </p:nvGrpSpPr>
        <p:grpSpPr>
          <a:xfrm>
            <a:off x="687222" y="1041881"/>
            <a:ext cx="1805869" cy="647015"/>
            <a:chOff x="587373" y="3606466"/>
            <a:chExt cx="1805869" cy="647014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E9895AB8-21D6-F00C-857D-3FA2841CED0C}"/>
                </a:ext>
              </a:extLst>
            </p:cNvPr>
            <p:cNvSpPr txBox="1">
              <a:spLocks/>
            </p:cNvSpPr>
            <p:nvPr/>
          </p:nvSpPr>
          <p:spPr>
            <a:xfrm>
              <a:off x="595007" y="3606466"/>
              <a:ext cx="1798235" cy="647014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r>
                <a:rPr lang="en-GB" sz="2000" b="0">
                  <a:solidFill>
                    <a:schemeClr val="accent2"/>
                  </a:solidFill>
                  <a:latin typeface="Barlow Condensed Medium" pitchFamily="2" charset="77"/>
                </a:rPr>
                <a:t>Activities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D5AA68-48E2-FE3A-5ED4-53FAE04A2B24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3" y="4244134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242BCA50-A10C-DEA0-715C-A9DD3DA70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978" y="1323739"/>
            <a:ext cx="462844" cy="462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7F9DC9-D754-AAFB-4A04-5E596B72E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95" y="0"/>
            <a:ext cx="5182323" cy="6268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86A11F-77C1-F4AA-0F1D-9577B3F1F214}"/>
              </a:ext>
            </a:extLst>
          </p:cNvPr>
          <p:cNvSpPr txBox="1"/>
          <p:nvPr/>
        </p:nvSpPr>
        <p:spPr>
          <a:xfrm>
            <a:off x="587373" y="1741415"/>
            <a:ext cx="6417021" cy="467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dirty="0"/>
              <a:t>Investigate basic queries</a:t>
            </a:r>
          </a:p>
          <a:p>
            <a:pPr>
              <a:buNone/>
            </a:pPr>
            <a:r>
              <a:rPr lang="en-GB" sz="1200" dirty="0"/>
              <a:t>The required unit cannot be found in the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unit details are either incorrect or missing entirely.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There are issues or clarifications needed regarding MDS queries- Drop the file, run the process, confirm once loaded/failed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budget information requires clarification or has discrepancies- Drop the file, run the process, confirm once loaded/failed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Users are facing problems related to system or data access.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buNone/>
            </a:pPr>
            <a:r>
              <a:rPr lang="en-GB" sz="1200" b="1" dirty="0"/>
              <a:t>Data Defects</a:t>
            </a:r>
            <a:endParaRPr lang="en-GB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Certain expected data values are missing from the dataset.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Data does not match R&amp;A, </a:t>
            </a:r>
            <a:r>
              <a:rPr lang="en-GB" sz="1200" dirty="0" err="1"/>
              <a:t>MyMicros</a:t>
            </a:r>
            <a:r>
              <a:rPr lang="en-GB" sz="1200" dirty="0"/>
              <a:t>, or other source systems.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buNone/>
            </a:pPr>
            <a:r>
              <a:rPr lang="en-GB" sz="1200" b="1" dirty="0"/>
              <a:t>PBI Development or Defects</a:t>
            </a:r>
            <a:endParaRPr lang="en-GB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Users are experiencing navigation issues inside the Power BI dashboard.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Some parts of the dashboard are broken or not functioning.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user guides within the dashboard need updating.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dashboard is performing too slowly or facing performance issues.</a:t>
            </a:r>
          </a:p>
        </p:txBody>
      </p:sp>
    </p:spTree>
    <p:extLst>
      <p:ext uri="{BB962C8B-B14F-4D97-AF65-F5344CB8AC3E}">
        <p14:creationId xmlns:p14="http://schemas.microsoft.com/office/powerpoint/2010/main" val="898294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0D2B-9FB2-090B-2151-409C66B0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9E3413-4293-6B24-A892-667565DB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594B3-166E-6DDF-AEEB-D8E315C4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Scope Activities – CDI Team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2EB7A9-21BD-D4A0-751F-27868D38B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216988"/>
              </p:ext>
            </p:extLst>
          </p:nvPr>
        </p:nvGraphicFramePr>
        <p:xfrm>
          <a:off x="587375" y="1892558"/>
          <a:ext cx="6321425" cy="438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1425">
                  <a:extLst>
                    <a:ext uri="{9D8B030D-6E8A-4147-A177-3AD203B41FA5}">
                      <a16:colId xmlns:a16="http://schemas.microsoft.com/office/drawing/2014/main" val="2836483654"/>
                    </a:ext>
                  </a:extLst>
                </a:gridCol>
              </a:tblGrid>
              <a:tr h="625891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 Cost management initiatives for optimised cloud spending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8839"/>
                  </a:ext>
                </a:extLst>
              </a:tr>
              <a:tr h="625891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 seamless Data Accessibility across all regions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090073"/>
                  </a:ext>
                </a:extLst>
              </a:tr>
              <a:tr h="625891">
                <a:tc>
                  <a:txBody>
                    <a:bodyPr/>
                    <a:lstStyle/>
                    <a:p>
                      <a:pPr marL="285750" indent="-285750" algn="l" defTabSz="914377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comprehensive Power BI Platform Management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502750"/>
                  </a:ext>
                </a:extLst>
              </a:tr>
              <a:tr h="625891">
                <a:tc>
                  <a:txBody>
                    <a:bodyPr/>
                    <a:lstStyle/>
                    <a:p>
                      <a:pPr marL="285750" indent="-285750" algn="l" defTabSz="914377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user access rights decisions and approvals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0057"/>
                  </a:ext>
                </a:extLst>
              </a:tr>
              <a:tr h="625891">
                <a:tc>
                  <a:txBody>
                    <a:bodyPr/>
                    <a:lstStyle/>
                    <a:p>
                      <a:pPr marL="285750" indent="-285750" algn="l" defTabSz="914377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Oversee Data Ownership responsibilities and governance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66205"/>
                  </a:ext>
                </a:extLst>
              </a:tr>
              <a:tr h="625891">
                <a:tc>
                  <a:txBody>
                    <a:bodyPr/>
                    <a:lstStyle/>
                    <a:p>
                      <a:pPr marL="285750" indent="-285750" algn="l" defTabSz="914377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Facilitate the Creation of spoke environments as needed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61219"/>
                  </a:ext>
                </a:extLst>
              </a:tr>
              <a:tr h="625891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Offer data security recommendations and management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31441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D797C0C-6037-89CD-FE9D-F133CC9373CC}"/>
              </a:ext>
            </a:extLst>
          </p:cNvPr>
          <p:cNvGrpSpPr/>
          <p:nvPr/>
        </p:nvGrpSpPr>
        <p:grpSpPr>
          <a:xfrm>
            <a:off x="587374" y="1136473"/>
            <a:ext cx="1805869" cy="647015"/>
            <a:chOff x="587373" y="3606466"/>
            <a:chExt cx="1805869" cy="647014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5EDB9E3-7FDA-5F79-BAA0-E7CC709EF1DD}"/>
                </a:ext>
              </a:extLst>
            </p:cNvPr>
            <p:cNvSpPr txBox="1">
              <a:spLocks/>
            </p:cNvSpPr>
            <p:nvPr/>
          </p:nvSpPr>
          <p:spPr>
            <a:xfrm>
              <a:off x="595007" y="3606466"/>
              <a:ext cx="1798235" cy="647014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r>
                <a:rPr lang="en-GB" sz="2000" b="0">
                  <a:solidFill>
                    <a:schemeClr val="accent2"/>
                  </a:solidFill>
                  <a:latin typeface="Barlow Condensed Medium" pitchFamily="2" charset="77"/>
                </a:rPr>
                <a:t>Activities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D7DB02A-08BB-9447-A377-A97EC3345C99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3" y="4244134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40DA49FB-A2A8-A594-C3C8-9B3F8FA8C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978" y="1347155"/>
            <a:ext cx="462844" cy="462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608768-DE3B-42AA-9DE0-742C45AC4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632" y="0"/>
            <a:ext cx="519185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6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5EF3-ACDA-6A2B-EF3C-A420D45C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F148B-AE24-0332-D9CA-825CCA44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2891-585A-9038-2DD3-D9176CEE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Scope Activities - ISO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B889E-1E83-22AE-AD90-E492FE481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350623"/>
              </p:ext>
            </p:extLst>
          </p:nvPr>
        </p:nvGraphicFramePr>
        <p:xfrm>
          <a:off x="587375" y="1892558"/>
          <a:ext cx="6321425" cy="438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1425">
                  <a:extLst>
                    <a:ext uri="{9D8B030D-6E8A-4147-A177-3AD203B41FA5}">
                      <a16:colId xmlns:a16="http://schemas.microsoft.com/office/drawing/2014/main" val="2836483654"/>
                    </a:ext>
                  </a:extLst>
                </a:gridCol>
              </a:tblGrid>
              <a:tr h="876247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the cloud subscription for SSP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8839"/>
                  </a:ext>
                </a:extLst>
              </a:tr>
              <a:tr h="876247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 the Shared Integration Runtime environment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090073"/>
                  </a:ext>
                </a:extLst>
              </a:tr>
              <a:tr h="876247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and oversee Security configurations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502750"/>
                  </a:ext>
                </a:extLst>
              </a:tr>
              <a:tr h="876247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User access administration tasks.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0057"/>
                  </a:ext>
                </a:extLst>
              </a:tr>
              <a:tr h="876247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Support for the Creation of Spoke environments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6620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1DC68C64-957B-A55A-8B3A-1FAB97AFED7C}"/>
              </a:ext>
            </a:extLst>
          </p:cNvPr>
          <p:cNvGrpSpPr/>
          <p:nvPr/>
        </p:nvGrpSpPr>
        <p:grpSpPr>
          <a:xfrm>
            <a:off x="587374" y="1136473"/>
            <a:ext cx="1805869" cy="647015"/>
            <a:chOff x="587373" y="3606466"/>
            <a:chExt cx="1805869" cy="647014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046E6BF6-7F3A-F35D-ECA6-40618619180B}"/>
                </a:ext>
              </a:extLst>
            </p:cNvPr>
            <p:cNvSpPr txBox="1">
              <a:spLocks/>
            </p:cNvSpPr>
            <p:nvPr/>
          </p:nvSpPr>
          <p:spPr>
            <a:xfrm>
              <a:off x="595007" y="3606466"/>
              <a:ext cx="1798235" cy="647014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r>
                <a:rPr lang="en-GB" sz="2000" b="0">
                  <a:solidFill>
                    <a:schemeClr val="accent2"/>
                  </a:solidFill>
                  <a:latin typeface="Barlow Condensed Medium" pitchFamily="2" charset="77"/>
                </a:rPr>
                <a:t>Activities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E6F4A50-243B-EC72-B428-F7888D1CE2B1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3" y="4244134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23FF8871-57DF-ED48-A4CF-B6CF3E1A6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978" y="1347155"/>
            <a:ext cx="462844" cy="462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A71AB4-F846-8BBB-166C-2BB87879C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401" y="5468"/>
            <a:ext cx="519185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7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C758-FE5E-F542-7E30-0F5CF726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AF60A-3796-744E-9A86-FCB18344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BB27C-BE55-4AF1-C53E-211A60E1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 of Scope Activities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906DD2-CEDF-5B67-3ECB-03D2481EF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606092"/>
              </p:ext>
            </p:extLst>
          </p:nvPr>
        </p:nvGraphicFramePr>
        <p:xfrm>
          <a:off x="632530" y="1892558"/>
          <a:ext cx="6321425" cy="2212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1425">
                  <a:extLst>
                    <a:ext uri="{9D8B030D-6E8A-4147-A177-3AD203B41FA5}">
                      <a16:colId xmlns:a16="http://schemas.microsoft.com/office/drawing/2014/main" val="2836483654"/>
                    </a:ext>
                  </a:extLst>
                </a:gridCol>
              </a:tblGrid>
              <a:tr h="579162"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required source data is not available or accessible for processing.</a:t>
                      </a:r>
                    </a:p>
                    <a:p>
                      <a:pPr marL="285750" marR="0" lvl="0" indent="-285750" algn="l" defTabSz="914377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ownership or corrections must be handled within the source systems.</a:t>
                      </a:r>
                    </a:p>
                    <a:p>
                      <a:pPr marL="285750" marR="0" lvl="0" indent="-285750" algn="l" defTabSz="914377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Changes or enhancements are required in third-party applications or APIs.</a:t>
                      </a:r>
                    </a:p>
                    <a:p>
                      <a:pPr marL="285750" marR="0" lvl="0" indent="-285750" algn="l" defTabSz="914377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development activities are requested or currently in progress.</a:t>
                      </a:r>
                    </a:p>
                    <a:p>
                      <a:pPr marL="285750" marR="0" lvl="0" indent="-285750" algn="l" defTabSz="914377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have requested new KPIs or additional report development.</a:t>
                      </a:r>
                    </a:p>
                    <a:p>
                      <a:pPr marL="285750" marR="0" lvl="0" indent="-285750" algn="l" defTabSz="914377" rtl="0" eaLnBrk="1" fontAlgn="b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issue or request relates to other connected dashboards.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883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508DAF01-5B2B-648C-8D43-895B5217BB3F}"/>
              </a:ext>
            </a:extLst>
          </p:cNvPr>
          <p:cNvGrpSpPr/>
          <p:nvPr/>
        </p:nvGrpSpPr>
        <p:grpSpPr>
          <a:xfrm>
            <a:off x="587374" y="1136473"/>
            <a:ext cx="1805869" cy="647015"/>
            <a:chOff x="587373" y="3606466"/>
            <a:chExt cx="1805869" cy="647014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D4AAF77-0EB9-CDD2-EA2A-BBB700948FE0}"/>
                </a:ext>
              </a:extLst>
            </p:cNvPr>
            <p:cNvSpPr txBox="1">
              <a:spLocks/>
            </p:cNvSpPr>
            <p:nvPr/>
          </p:nvSpPr>
          <p:spPr>
            <a:xfrm>
              <a:off x="595007" y="3606466"/>
              <a:ext cx="1798235" cy="647014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r>
                <a:rPr lang="en-GB" sz="2000" b="0">
                  <a:solidFill>
                    <a:schemeClr val="accent2"/>
                  </a:solidFill>
                  <a:latin typeface="Barlow Condensed Medium" pitchFamily="2" charset="77"/>
                </a:rPr>
                <a:t>Activities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C76644-E80F-64A7-859C-FF178F39E730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3" y="4244134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9FA899F7-18BB-92C2-62CD-92A4D5184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978" y="1347155"/>
            <a:ext cx="462844" cy="462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317EA6-2C36-B248-1F09-47DA9A8B5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632" y="0"/>
            <a:ext cx="519185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69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E7A39-0F44-F447-B335-42C43AF8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F3CAF1-FCBD-FD6B-37C9-C8DB011B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55" y="451945"/>
            <a:ext cx="8839200" cy="5872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302FB8-3883-5DDE-DDBC-D0335AF2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33982"/>
            <a:ext cx="11014075" cy="443201"/>
          </a:xfrm>
        </p:spPr>
        <p:txBody>
          <a:bodyPr/>
          <a:lstStyle/>
          <a:p>
            <a:r>
              <a:rPr lang="en-GB" dirty="0"/>
              <a:t>Support Approach</a:t>
            </a:r>
          </a:p>
        </p:txBody>
      </p:sp>
    </p:spTree>
    <p:extLst>
      <p:ext uri="{BB962C8B-B14F-4D97-AF65-F5344CB8AC3E}">
        <p14:creationId xmlns:p14="http://schemas.microsoft.com/office/powerpoint/2010/main" val="322117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49F3-62A3-1A09-482B-57DF3A05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27" y="263713"/>
            <a:ext cx="11014075" cy="443201"/>
          </a:xfrm>
        </p:spPr>
        <p:txBody>
          <a:bodyPr vert="horz" lIns="0" tIns="45720" rIns="0" bIns="45720" rtlCol="0" anchor="b" anchorCtr="0">
            <a:noAutofit/>
          </a:bodyPr>
          <a:lstStyle/>
          <a:p>
            <a:r>
              <a:rPr lang="en-US" dirty="0"/>
              <a:t>Service Desk Reporting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F8878A-B216-4208-4986-8FE96AF9C076}"/>
              </a:ext>
            </a:extLst>
          </p:cNvPr>
          <p:cNvGrpSpPr/>
          <p:nvPr/>
        </p:nvGrpSpPr>
        <p:grpSpPr>
          <a:xfrm>
            <a:off x="580101" y="816864"/>
            <a:ext cx="10208768" cy="5391911"/>
            <a:chOff x="776178" y="1219201"/>
            <a:chExt cx="16879174" cy="48413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5B4778-177D-4D6B-9770-214BEA254EB2}"/>
                </a:ext>
              </a:extLst>
            </p:cNvPr>
            <p:cNvSpPr/>
            <p:nvPr/>
          </p:nvSpPr>
          <p:spPr>
            <a:xfrm>
              <a:off x="776178" y="1219201"/>
              <a:ext cx="10621924" cy="48413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4320" tIns="731520" rIns="89185" bIns="89185" numCol="1" spcCol="1270" anchor="t" anchorCtr="0">
              <a:noAutofit/>
            </a:bodyPr>
            <a:lstStyle/>
            <a:p>
              <a:pPr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200" dirty="0">
                <a:solidFill>
                  <a:schemeClr val="bg1"/>
                </a:solidFill>
                <a:latin typeface="Barlow Condensed Light" panose="00000406000000000000" pitchFamily="2" charset="0"/>
              </a:endParaRP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10FE8EA7-3CBE-4425-8EDC-EE5B33E6E44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98572" y="2154690"/>
              <a:ext cx="16456780" cy="3755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2" rtlCol="0" anchor="t" anchorCtr="0" compatLnSpc="1">
              <a:prstTxWarp prst="textNoShape">
                <a:avLst/>
              </a:prstTxWarp>
              <a:no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Call Volume by Hour/Day of Week</a:t>
              </a:r>
            </a:p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Talk Time &amp; Average Talk Time</a:t>
              </a:r>
            </a:p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Hold Time &amp; Average Hold Time</a:t>
              </a:r>
            </a:p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Number of Abandoned Calls and Abandonment Rate Percentage</a:t>
              </a:r>
            </a:p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Volume by Category/Type</a:t>
              </a:r>
            </a:p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Volume by Priority (P1, P2, P3)</a:t>
              </a:r>
            </a:p>
            <a:p>
              <a:pPr marL="228600" lvl="1" indent="-228600" algn="just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Time to Resolve and Average Time to Resolve (can also be measured by Priority)</a:t>
              </a:r>
            </a:p>
            <a:p>
              <a:pPr marL="228600" lvl="1" indent="-228600" eaLnBrk="1" fontAlgn="auto" hangingPunct="1">
                <a:spcBef>
                  <a:spcPts val="500"/>
                </a:spcBef>
                <a:spcAft>
                  <a:spcPts val="500"/>
                </a:spcAft>
                <a:buFont typeface="+mj-lt"/>
                <a:buAutoNum type="arabicPeriod"/>
                <a:defRPr/>
              </a:pPr>
              <a:r>
                <a:rPr lang="en-US" altLang="en-US" sz="1200" dirty="0">
                  <a:latin typeface="+mj-lt"/>
                  <a:cs typeface="Segoe UI" panose="020B0502040204020203" pitchFamily="34" charset="0"/>
                </a:rPr>
                <a:t>Additional reports can be agreed as we mature in support stage</a:t>
              </a:r>
              <a:endParaRPr lang="en-US" altLang="en-US" sz="1100" dirty="0"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2DB1B27-4B51-49FE-85F7-0144456888E1}"/>
                </a:ext>
              </a:extLst>
            </p:cNvPr>
            <p:cNvSpPr/>
            <p:nvPr/>
          </p:nvSpPr>
          <p:spPr>
            <a:xfrm>
              <a:off x="1057036" y="1360485"/>
              <a:ext cx="10209316" cy="5849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en-US" sz="1400" dirty="0">
                  <a:latin typeface="+mj-lt"/>
                  <a:cs typeface="Segoe UI" panose="020B0502040204020203" pitchFamily="34" charset="0"/>
                </a:rPr>
                <a:t>We provide reporting on a Monthly/Quarterly/Annual basis. 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en-US" sz="1400" dirty="0">
                  <a:latin typeface="+mj-lt"/>
                  <a:cs typeface="Segoe UI" panose="020B0502040204020203" pitchFamily="34" charset="0"/>
                </a:rPr>
                <a:t>Samples metrics include the following </a:t>
              </a:r>
              <a:r>
                <a:rPr lang="en-US" altLang="en-US" sz="1100" dirty="0">
                  <a:latin typeface="+mj-lt"/>
                  <a:cs typeface="Segoe UI" panose="020B0502040204020203" pitchFamily="34" charset="0"/>
                </a:rPr>
                <a:t>(Can be updated during transition phase)</a:t>
              </a:r>
              <a:r>
                <a:rPr lang="en-US" altLang="en-US" sz="1400" dirty="0">
                  <a:latin typeface="+mj-lt"/>
                  <a:cs typeface="Segoe UI" panose="020B0502040204020203" pitchFamily="34" charset="0"/>
                </a:rPr>
                <a:t>: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8AF0DB-368F-E611-CD18-A9CFB67A4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401" y="5468"/>
            <a:ext cx="519185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37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3883-FAFD-01C6-4F24-745FE7A9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BAC158-645C-CFFD-57E1-B9B9E320336C}"/>
              </a:ext>
            </a:extLst>
          </p:cNvPr>
          <p:cNvSpPr>
            <a:spLocks/>
          </p:cNvSpPr>
          <p:nvPr/>
        </p:nvSpPr>
        <p:spPr>
          <a:xfrm>
            <a:off x="18289" y="2224306"/>
            <a:ext cx="12191999" cy="25170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alpha val="59000"/>
                </a:schemeClr>
              </a:gs>
              <a:gs pos="9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endParaRPr lang="en-US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28E94-01D4-924E-7764-A4C14F15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C391E-9596-40C2-C2FA-E5EEBFBD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Communication Channels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C0F352-D29A-3285-0A68-90687C7CA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355598"/>
              </p:ext>
            </p:extLst>
          </p:nvPr>
        </p:nvGraphicFramePr>
        <p:xfrm>
          <a:off x="587375" y="2224306"/>
          <a:ext cx="11034364" cy="404949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739874">
                  <a:extLst>
                    <a:ext uri="{9D8B030D-6E8A-4147-A177-3AD203B41FA5}">
                      <a16:colId xmlns:a16="http://schemas.microsoft.com/office/drawing/2014/main" val="3295044631"/>
                    </a:ext>
                  </a:extLst>
                </a:gridCol>
                <a:gridCol w="2764830">
                  <a:extLst>
                    <a:ext uri="{9D8B030D-6E8A-4147-A177-3AD203B41FA5}">
                      <a16:colId xmlns:a16="http://schemas.microsoft.com/office/drawing/2014/main" val="2391621104"/>
                    </a:ext>
                  </a:extLst>
                </a:gridCol>
                <a:gridCol w="2764830">
                  <a:extLst>
                    <a:ext uri="{9D8B030D-6E8A-4147-A177-3AD203B41FA5}">
                      <a16:colId xmlns:a16="http://schemas.microsoft.com/office/drawing/2014/main" val="415671058"/>
                    </a:ext>
                  </a:extLst>
                </a:gridCol>
                <a:gridCol w="2764830">
                  <a:extLst>
                    <a:ext uri="{9D8B030D-6E8A-4147-A177-3AD203B41FA5}">
                      <a16:colId xmlns:a16="http://schemas.microsoft.com/office/drawing/2014/main" val="3113332634"/>
                    </a:ext>
                  </a:extLst>
                </a:gridCol>
              </a:tblGrid>
              <a:tr h="1066432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GB" sz="2000" b="0" i="0" kern="1200">
                          <a:solidFill>
                            <a:schemeClr val="accent5"/>
                          </a:solidFill>
                          <a:latin typeface="Barlow Condensed Medium" pitchFamily="2" charset="77"/>
                          <a:ea typeface="+mn-ea"/>
                          <a:cs typeface="+mn-cs"/>
                        </a:rPr>
                        <a:t>Communication Schedule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GB" sz="2000" b="0" i="0" kern="1200">
                          <a:solidFill>
                            <a:schemeClr val="accent5"/>
                          </a:solidFill>
                          <a:latin typeface="Barlow Condensed Medium" pitchFamily="2" charset="77"/>
                          <a:ea typeface="+mn-ea"/>
                          <a:cs typeface="+mn-cs"/>
                        </a:rPr>
                        <a:t>Urgent Communication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GB" sz="2000" b="0" i="0" kern="1200">
                          <a:solidFill>
                            <a:schemeClr val="accent5"/>
                          </a:solidFill>
                          <a:latin typeface="Barlow Condensed Medium" pitchFamily="2" charset="77"/>
                          <a:ea typeface="+mn-ea"/>
                          <a:cs typeface="+mn-cs"/>
                        </a:rPr>
                        <a:t>Regular Communication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GB" sz="2000" b="0" i="0" kern="1200">
                          <a:solidFill>
                            <a:schemeClr val="accent5"/>
                          </a:solidFill>
                          <a:latin typeface="Barlow Condensed Medium" pitchFamily="2" charset="77"/>
                          <a:ea typeface="+mn-ea"/>
                          <a:cs typeface="+mn-cs"/>
                        </a:rPr>
                        <a:t>Escalation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68748"/>
                  </a:ext>
                </a:extLst>
              </a:tr>
              <a:tr h="1455252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Protiviti will schedule a service delivery review each month.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374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Protiviti will create a group email to notify everyone in the support team about an urgent issue.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374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Any regular communication should ideally happen via the ticketing system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374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In unusual circumstances if SSP</a:t>
                      </a:r>
                    </a:p>
                    <a:p>
                      <a:pPr algn="l"/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desires to escalate an issue with the service, you can reach out to our escalation contacts.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374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108336"/>
                  </a:ext>
                </a:extLst>
              </a:tr>
              <a:tr h="152781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GB" sz="1400" b="1"/>
                        <a:t>Objective: </a:t>
                      </a:r>
                      <a:r>
                        <a:rPr lang="en-GB" sz="1400"/>
                        <a:t>Review service performance and identify improvements.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GB" sz="1400" b="1"/>
                        <a:t>Agenda: </a:t>
                      </a:r>
                      <a:r>
                        <a:rPr lang="en-GB" sz="1400"/>
                        <a:t>Metrics, feedback, challenges, action plan.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EMAIL id </a:t>
                      </a:r>
                      <a:r>
                        <a:rPr lang="en-GB" sz="1100" dirty="0"/>
                        <a:t>&lt;</a:t>
                      </a:r>
                      <a:r>
                        <a:rPr lang="en-GB" sz="1100" dirty="0">
                          <a:hlinkClick r:id="rId3" tooltip="mailto:cdiplatform.support@protivitiglobal.in"/>
                        </a:rPr>
                        <a:t>CDIPlatform.support@protivitiglobal.in</a:t>
                      </a:r>
                      <a:r>
                        <a:rPr lang="en-GB" sz="1100" dirty="0"/>
                        <a:t>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SSP Ticketing system - </a:t>
                      </a:r>
                      <a:r>
                        <a:rPr lang="en-GB" sz="1400" err="1"/>
                        <a:t>Xurrent</a:t>
                      </a:r>
                      <a:endParaRPr lang="en-GB" sz="14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GB" sz="1400" b="1" dirty="0"/>
                        <a:t>First Escalation Point: </a:t>
                      </a:r>
                      <a:r>
                        <a:rPr lang="en-GB" sz="1400" dirty="0"/>
                        <a:t>&lt;TBD&gt;.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GB" sz="1400" b="1" dirty="0"/>
                        <a:t>Highest Escalation Point: </a:t>
                      </a:r>
                      <a:r>
                        <a:rPr lang="en-GB" sz="1400" dirty="0"/>
                        <a:t>Nikunj Chadha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671526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13C9306-EE6E-AB88-ACA4-6CBB4964B793}"/>
              </a:ext>
            </a:extLst>
          </p:cNvPr>
          <p:cNvGrpSpPr/>
          <p:nvPr/>
        </p:nvGrpSpPr>
        <p:grpSpPr>
          <a:xfrm>
            <a:off x="587374" y="1393679"/>
            <a:ext cx="11034367" cy="662685"/>
            <a:chOff x="587374" y="1393679"/>
            <a:chExt cx="11034367" cy="6626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8EA05B9-0610-6F02-0BB0-55C8412B2FAA}"/>
                </a:ext>
              </a:extLst>
            </p:cNvPr>
            <p:cNvSpPr txBox="1"/>
            <p:nvPr/>
          </p:nvSpPr>
          <p:spPr>
            <a:xfrm>
              <a:off x="587375" y="1393679"/>
              <a:ext cx="11034366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/>
                <a:t>These communication channels are designed to meet the demands of the support service in an effective manner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BFB4FE-780D-6C74-2DCC-AAD2B94950AC}"/>
                </a:ext>
              </a:extLst>
            </p:cNvPr>
            <p:cNvCxnSpPr>
              <a:cxnSpLocks/>
            </p:cNvCxnSpPr>
            <p:nvPr/>
          </p:nvCxnSpPr>
          <p:spPr>
            <a:xfrm>
              <a:off x="587374" y="2056364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425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2707-1CB9-C96E-399F-C98E8E262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392936-EBC3-3FB6-6577-BAB70C5E99CC}"/>
              </a:ext>
            </a:extLst>
          </p:cNvPr>
          <p:cNvSpPr>
            <a:spLocks/>
          </p:cNvSpPr>
          <p:nvPr/>
        </p:nvSpPr>
        <p:spPr>
          <a:xfrm>
            <a:off x="587374" y="1376363"/>
            <a:ext cx="11604625" cy="49115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alpha val="79241"/>
                </a:schemeClr>
              </a:gs>
              <a:gs pos="9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endParaRPr lang="en-US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E1D271-36DF-9FDA-442B-041CEC76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6DD83-D079-132A-A8C5-9B6A16AD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Priority of Incidents – Definition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36FB94-57C3-3F16-9813-10420ADEC7EF}"/>
              </a:ext>
            </a:extLst>
          </p:cNvPr>
          <p:cNvGrpSpPr/>
          <p:nvPr/>
        </p:nvGrpSpPr>
        <p:grpSpPr>
          <a:xfrm>
            <a:off x="820375" y="1562400"/>
            <a:ext cx="1798235" cy="540000"/>
            <a:chOff x="3526302" y="1376363"/>
            <a:chExt cx="1798235" cy="647015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90523980-E170-82BD-02FD-974DF46250A1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P1 - Urgent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7B02119-5AA1-CF80-9A5B-B49558C21419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4EC675-DF0B-FAA1-C3BC-11B899CA3FA7}"/>
              </a:ext>
            </a:extLst>
          </p:cNvPr>
          <p:cNvGrpSpPr/>
          <p:nvPr/>
        </p:nvGrpSpPr>
        <p:grpSpPr>
          <a:xfrm>
            <a:off x="3831968" y="1455385"/>
            <a:ext cx="1798235" cy="647015"/>
            <a:chOff x="3526302" y="1376363"/>
            <a:chExt cx="1798235" cy="647015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5A5B1B04-592D-9181-7E34-8E2C5E1CED97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P2 - High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657111-7714-B1E8-920D-53832E9F319D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C6E09A-F947-FD61-685D-2B4730C9D880}"/>
              </a:ext>
            </a:extLst>
          </p:cNvPr>
          <p:cNvGrpSpPr/>
          <p:nvPr/>
        </p:nvGrpSpPr>
        <p:grpSpPr>
          <a:xfrm>
            <a:off x="6843561" y="1455385"/>
            <a:ext cx="1798235" cy="647015"/>
            <a:chOff x="3526302" y="1376363"/>
            <a:chExt cx="1798235" cy="647015"/>
          </a:xfrm>
        </p:grpSpPr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5AEEE0E0-4261-88E2-F562-2570112DC986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P3 - Medium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6B6FFE-5B18-DC55-4233-721A99036405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1A2BE1-66E1-8F99-639D-D6701B391CEB}"/>
              </a:ext>
            </a:extLst>
          </p:cNvPr>
          <p:cNvGrpSpPr/>
          <p:nvPr/>
        </p:nvGrpSpPr>
        <p:grpSpPr>
          <a:xfrm>
            <a:off x="9855153" y="1455385"/>
            <a:ext cx="1798235" cy="647015"/>
            <a:chOff x="3526302" y="1376363"/>
            <a:chExt cx="1798235" cy="647015"/>
          </a:xfrm>
        </p:grpSpPr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32131723-E354-4A2D-43D5-918FB8A585CD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P4 - Low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D0EC445-8892-C82C-7AA1-339B773F1F26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357507B-7EE4-3640-28AD-93D9F58A5968}"/>
              </a:ext>
            </a:extLst>
          </p:cNvPr>
          <p:cNvCxnSpPr/>
          <p:nvPr/>
        </p:nvCxnSpPr>
        <p:spPr>
          <a:xfrm>
            <a:off x="3342553" y="2359378"/>
            <a:ext cx="0" cy="39144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FFF79A-F713-205C-D446-7E43295CE529}"/>
              </a:ext>
            </a:extLst>
          </p:cNvPr>
          <p:cNvCxnSpPr/>
          <p:nvPr/>
        </p:nvCxnSpPr>
        <p:spPr>
          <a:xfrm>
            <a:off x="6393116" y="2359378"/>
            <a:ext cx="0" cy="39144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975AB2-E0CD-2ECD-04D0-A820B4293A27}"/>
              </a:ext>
            </a:extLst>
          </p:cNvPr>
          <p:cNvCxnSpPr/>
          <p:nvPr/>
        </p:nvCxnSpPr>
        <p:spPr>
          <a:xfrm>
            <a:off x="9497466" y="2359378"/>
            <a:ext cx="0" cy="39144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A018679-18B3-0CB5-552F-86A9447A367B}"/>
              </a:ext>
            </a:extLst>
          </p:cNvPr>
          <p:cNvSpPr/>
          <p:nvPr/>
        </p:nvSpPr>
        <p:spPr>
          <a:xfrm>
            <a:off x="693182" y="2359378"/>
            <a:ext cx="2462400" cy="369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t" anchorCtr="0">
            <a:noAutofit/>
          </a:bodyPr>
          <a:lstStyle/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A critical error that causes total failure of the application or a major problem with a specific functional area of the system or modules cannot be used until the defect(s) are rectified. 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A functionality that does not work as defined and no practical workaround is available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Performance testing for the specified concurrent users was unsuccessful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Response time was not met for the specified concurrent users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The application/system is not accessible by Staff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AEE07-807A-C2F9-B695-A4F7A3A6CF94}"/>
              </a:ext>
            </a:extLst>
          </p:cNvPr>
          <p:cNvSpPr/>
          <p:nvPr/>
        </p:nvSpPr>
        <p:spPr>
          <a:xfrm>
            <a:off x="3445094" y="2359378"/>
            <a:ext cx="2462400" cy="369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t" anchorCtr="0">
            <a:noAutofit/>
          </a:bodyPr>
          <a:lstStyle/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Serious errors. One of the application/ module is not accessible by Staff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A functionality that does not work as defined, but a practical workaround is available. 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Workaround can be handled with the existing staffing and increases the execution time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8BD611-04ED-7511-B703-9889EAE88D9D}"/>
              </a:ext>
            </a:extLst>
          </p:cNvPr>
          <p:cNvSpPr/>
          <p:nvPr/>
        </p:nvSpPr>
        <p:spPr>
          <a:xfrm>
            <a:off x="6550072" y="2359378"/>
            <a:ext cx="2462400" cy="369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t" anchorCtr="0">
            <a:noAutofit/>
          </a:bodyPr>
          <a:lstStyle/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Medium errors. These do not prevent the acceptance by users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One of the application/ module is not functioning properly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Incidents that are causing a minor defect in the application, but which may not cause test scripts to fail.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GUI type of changes/ does not include any enhancement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D2AFCB-9857-053E-7A4E-E2C6533E1CC4}"/>
              </a:ext>
            </a:extLst>
          </p:cNvPr>
          <p:cNvSpPr/>
          <p:nvPr/>
        </p:nvSpPr>
        <p:spPr>
          <a:xfrm>
            <a:off x="9623057" y="2359378"/>
            <a:ext cx="2462400" cy="3695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t" anchorCtr="0">
            <a:noAutofit/>
          </a:bodyPr>
          <a:lstStyle/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Incidents which are non-critical and not holding the Business process </a:t>
            </a:r>
          </a:p>
          <a:p>
            <a:pPr marL="171450" lvl="0" indent="-17145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GB" sz="1200" kern="1200">
                <a:solidFill>
                  <a:schemeClr val="bg1"/>
                </a:solidFill>
              </a:rPr>
              <a:t>Minor changes in the application related to existing queries within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3624754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B98C-06A1-D359-BAE6-77E72615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587C00-7425-5201-0E4D-8D36F34B1A0D}"/>
              </a:ext>
            </a:extLst>
          </p:cNvPr>
          <p:cNvSpPr>
            <a:spLocks/>
          </p:cNvSpPr>
          <p:nvPr/>
        </p:nvSpPr>
        <p:spPr>
          <a:xfrm>
            <a:off x="2901244" y="1376363"/>
            <a:ext cx="9290755" cy="49115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alpha val="79241"/>
                </a:schemeClr>
              </a:gs>
              <a:gs pos="95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75"/>
            <a:endParaRPr lang="en-US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E8093-B626-6D09-DFAB-E6DC924F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118A-1DE5-B647-BC55-A0C6FFF5178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50F1F-389A-0FCD-956A-1BBC01B9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Service Levels – Response/Resolution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E6977B-DDEB-B6B9-3ECB-637E9269DD66}"/>
              </a:ext>
            </a:extLst>
          </p:cNvPr>
          <p:cNvSpPr/>
          <p:nvPr/>
        </p:nvSpPr>
        <p:spPr>
          <a:xfrm>
            <a:off x="587376" y="2564345"/>
            <a:ext cx="959202" cy="1630810"/>
          </a:xfrm>
          <a:prstGeom prst="rect">
            <a:avLst/>
          </a:prstGeom>
          <a:noFill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533400">
              <a:spcBef>
                <a:spcPct val="0"/>
              </a:spcBef>
              <a:buNone/>
            </a:pPr>
            <a:r>
              <a:rPr lang="en-GB" kern="1200">
                <a:solidFill>
                  <a:schemeClr val="accent1"/>
                </a:solidFill>
                <a:latin typeface="Barlow Condensed Medium" pitchFamily="2" charset="77"/>
              </a:rPr>
              <a:t>Response 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0485E-04D4-E3DE-90FA-750D6B106821}"/>
              </a:ext>
            </a:extLst>
          </p:cNvPr>
          <p:cNvSpPr/>
          <p:nvPr/>
        </p:nvSpPr>
        <p:spPr>
          <a:xfrm>
            <a:off x="587376" y="4657101"/>
            <a:ext cx="959202" cy="1630810"/>
          </a:xfrm>
          <a:prstGeom prst="rect">
            <a:avLst/>
          </a:prstGeom>
          <a:noFill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533400">
              <a:spcBef>
                <a:spcPct val="0"/>
              </a:spcBef>
              <a:buNone/>
            </a:pPr>
            <a:r>
              <a:rPr lang="en-GB" kern="1200">
                <a:solidFill>
                  <a:schemeClr val="accent2"/>
                </a:solidFill>
                <a:latin typeface="Barlow Condensed Medium" pitchFamily="2" charset="77"/>
              </a:rPr>
              <a:t>Resolution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4A907-5C06-65CA-4093-89D26E68C2D5}"/>
              </a:ext>
            </a:extLst>
          </p:cNvPr>
          <p:cNvSpPr/>
          <p:nvPr/>
        </p:nvSpPr>
        <p:spPr>
          <a:xfrm>
            <a:off x="1789289" y="2564345"/>
            <a:ext cx="45719" cy="16308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533400">
              <a:spcBef>
                <a:spcPct val="0"/>
              </a:spcBef>
              <a:buNone/>
            </a:pPr>
            <a:endParaRPr lang="en-GB" sz="1200" b="1" kern="12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B61FF1-570F-4456-4C6E-86C696D5C943}"/>
              </a:ext>
            </a:extLst>
          </p:cNvPr>
          <p:cNvSpPr/>
          <p:nvPr/>
        </p:nvSpPr>
        <p:spPr>
          <a:xfrm>
            <a:off x="1789289" y="4657101"/>
            <a:ext cx="45719" cy="16308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533400">
              <a:spcBef>
                <a:spcPct val="0"/>
              </a:spcBef>
              <a:buNone/>
            </a:pPr>
            <a:endParaRPr lang="en-GB" sz="1200" b="1" kern="1200">
              <a:solidFill>
                <a:schemeClr val="tx1"/>
              </a:solidFill>
            </a:endParaRP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DC2DC13C-86E7-3B40-C2B4-5F5004A15046}"/>
              </a:ext>
            </a:extLst>
          </p:cNvPr>
          <p:cNvSpPr/>
          <p:nvPr/>
        </p:nvSpPr>
        <p:spPr>
          <a:xfrm>
            <a:off x="1868875" y="2564345"/>
            <a:ext cx="789658" cy="1630810"/>
          </a:xfrm>
          <a:prstGeom prst="homePlate">
            <a:avLst>
              <a:gd name="adj" fmla="val 74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533400">
              <a:spcBef>
                <a:spcPct val="0"/>
              </a:spcBef>
              <a:buNone/>
            </a:pPr>
            <a:endParaRPr lang="en-GB" sz="1200" b="1" kern="1200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57141981-FCC5-41DD-96C3-080B7305D5C6}"/>
              </a:ext>
            </a:extLst>
          </p:cNvPr>
          <p:cNvSpPr/>
          <p:nvPr/>
        </p:nvSpPr>
        <p:spPr>
          <a:xfrm>
            <a:off x="1868875" y="4657101"/>
            <a:ext cx="789658" cy="1630810"/>
          </a:xfrm>
          <a:prstGeom prst="homePlate">
            <a:avLst>
              <a:gd name="adj" fmla="val 742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533400">
              <a:spcBef>
                <a:spcPct val="0"/>
              </a:spcBef>
              <a:buNone/>
            </a:pPr>
            <a:endParaRPr lang="en-GB" sz="1200" b="1" kern="120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8C0EBF-BF8F-1D29-6514-E49F0D7A4E39}"/>
              </a:ext>
            </a:extLst>
          </p:cNvPr>
          <p:cNvGrpSpPr/>
          <p:nvPr/>
        </p:nvGrpSpPr>
        <p:grpSpPr>
          <a:xfrm>
            <a:off x="3110207" y="1455385"/>
            <a:ext cx="1798235" cy="647015"/>
            <a:chOff x="3526302" y="1376363"/>
            <a:chExt cx="1798235" cy="647015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D615D2A4-11A2-ECCE-A2C6-A554510FE7DC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P1 - Urgent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0E91E7-6128-6901-0205-E6FC60A6855F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8050EF-3F74-953F-ABCD-CF66C07F3BD3}"/>
              </a:ext>
            </a:extLst>
          </p:cNvPr>
          <p:cNvGrpSpPr/>
          <p:nvPr/>
        </p:nvGrpSpPr>
        <p:grpSpPr>
          <a:xfrm>
            <a:off x="5365962" y="1455385"/>
            <a:ext cx="1798235" cy="647015"/>
            <a:chOff x="3526302" y="1376363"/>
            <a:chExt cx="1798235" cy="647015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9E074B79-E9E9-795B-DD08-971BA65418AD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P2 - High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3A0C3D-EC78-0C74-CEE4-76FF240618C3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7D0841-278F-7E9E-D6CC-9F2D9E7B6F54}"/>
              </a:ext>
            </a:extLst>
          </p:cNvPr>
          <p:cNvGrpSpPr/>
          <p:nvPr/>
        </p:nvGrpSpPr>
        <p:grpSpPr>
          <a:xfrm>
            <a:off x="7609674" y="1455385"/>
            <a:ext cx="1798235" cy="647015"/>
            <a:chOff x="3526302" y="1376363"/>
            <a:chExt cx="1798235" cy="647015"/>
          </a:xfrm>
        </p:grpSpPr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B12344BF-43D1-B8F4-5F64-D089389BC6BB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P3 - Medium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11365B-C815-016D-5CE2-BDCC25DA182C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6A8786-50A0-BE13-6E2D-8A8786DD2A1E}"/>
              </a:ext>
            </a:extLst>
          </p:cNvPr>
          <p:cNvGrpSpPr/>
          <p:nvPr/>
        </p:nvGrpSpPr>
        <p:grpSpPr>
          <a:xfrm>
            <a:off x="9855153" y="1455385"/>
            <a:ext cx="1798235" cy="647015"/>
            <a:chOff x="3526302" y="1376363"/>
            <a:chExt cx="1798235" cy="647015"/>
          </a:xfrm>
        </p:grpSpPr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1AFB2164-EB70-A066-1D2F-5089A5EDAD53}"/>
                </a:ext>
              </a:extLst>
            </p:cNvPr>
            <p:cNvSpPr txBox="1">
              <a:spLocks/>
            </p:cNvSpPr>
            <p:nvPr/>
          </p:nvSpPr>
          <p:spPr>
            <a:xfrm>
              <a:off x="3526302" y="1376363"/>
              <a:ext cx="1798235" cy="647015"/>
            </a:xfrm>
            <a:prstGeom prst="rect">
              <a:avLst/>
            </a:prstGeom>
          </p:spPr>
          <p:txBody>
            <a:bodyPr vert="horz" lIns="0" tIns="0" rIns="0" bIns="0" rtlCol="0" anchor="ctr" anchorCtr="0">
              <a:noAutofit/>
            </a:bodyPr>
            <a:lstStyle>
              <a:lvl1pPr marL="0" marR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lvl="0" algn="ctr"/>
              <a:r>
                <a:rPr lang="en-GB" sz="2000" b="0">
                  <a:solidFill>
                    <a:schemeClr val="bg1"/>
                  </a:solidFill>
                  <a:latin typeface="Barlow Condensed Medium" pitchFamily="2" charset="77"/>
                </a:rPr>
                <a:t>P4 - Low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5D4618-914E-C253-730E-007A1F7655DB}"/>
                </a:ext>
              </a:extLst>
            </p:cNvPr>
            <p:cNvCxnSpPr>
              <a:cxnSpLocks/>
            </p:cNvCxnSpPr>
            <p:nvPr/>
          </p:nvCxnSpPr>
          <p:spPr>
            <a:xfrm>
              <a:off x="4247314" y="2014032"/>
              <a:ext cx="356210" cy="0"/>
            </a:xfrm>
            <a:prstGeom prst="line">
              <a:avLst/>
            </a:prstGeom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F921650-B4FA-58A9-13C4-274BB7D21A36}"/>
              </a:ext>
            </a:extLst>
          </p:cNvPr>
          <p:cNvGrpSpPr/>
          <p:nvPr/>
        </p:nvGrpSpPr>
        <p:grpSpPr>
          <a:xfrm>
            <a:off x="5149709" y="2359378"/>
            <a:ext cx="4561538" cy="3914419"/>
            <a:chOff x="5149709" y="1580444"/>
            <a:chExt cx="4561538" cy="4693354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A8C467A-51F1-CB40-A0C3-77F6C0AA41BB}"/>
                </a:ext>
              </a:extLst>
            </p:cNvPr>
            <p:cNvCxnSpPr/>
            <p:nvPr/>
          </p:nvCxnSpPr>
          <p:spPr>
            <a:xfrm>
              <a:off x="5149709" y="1580444"/>
              <a:ext cx="0" cy="46933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A797371-0F5E-C335-925D-F82403371AAF}"/>
                </a:ext>
              </a:extLst>
            </p:cNvPr>
            <p:cNvCxnSpPr/>
            <p:nvPr/>
          </p:nvCxnSpPr>
          <p:spPr>
            <a:xfrm>
              <a:off x="7430478" y="1580444"/>
              <a:ext cx="0" cy="46933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B0466B-0223-AFDD-69B5-3965C5089BEC}"/>
                </a:ext>
              </a:extLst>
            </p:cNvPr>
            <p:cNvCxnSpPr/>
            <p:nvPr/>
          </p:nvCxnSpPr>
          <p:spPr>
            <a:xfrm>
              <a:off x="9711247" y="1580444"/>
              <a:ext cx="0" cy="46933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99D9E1C-4645-F545-9948-63785BD71B35}"/>
              </a:ext>
            </a:extLst>
          </p:cNvPr>
          <p:cNvSpPr/>
          <p:nvPr/>
        </p:nvSpPr>
        <p:spPr>
          <a:xfrm>
            <a:off x="3266808" y="2564345"/>
            <a:ext cx="1627096" cy="1630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 15 min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27516C-EF60-072A-C13C-E928627EF771}"/>
              </a:ext>
            </a:extLst>
          </p:cNvPr>
          <p:cNvSpPr/>
          <p:nvPr/>
        </p:nvSpPr>
        <p:spPr>
          <a:xfrm>
            <a:off x="3266808" y="4657101"/>
            <a:ext cx="1627096" cy="161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008" tIns="71848" rIns="82008" bIns="7184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 2 hours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58A3C4-DA01-72B3-814A-80779ABAD8FC}"/>
              </a:ext>
            </a:extLst>
          </p:cNvPr>
          <p:cNvSpPr/>
          <p:nvPr/>
        </p:nvSpPr>
        <p:spPr>
          <a:xfrm>
            <a:off x="5476546" y="2564345"/>
            <a:ext cx="1627096" cy="1630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 2 hours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D2B83D-2157-E58C-9716-9ED50C2A461E}"/>
              </a:ext>
            </a:extLst>
          </p:cNvPr>
          <p:cNvSpPr/>
          <p:nvPr/>
        </p:nvSpPr>
        <p:spPr>
          <a:xfrm>
            <a:off x="5476546" y="4657101"/>
            <a:ext cx="1627096" cy="161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008" tIns="71848" rIns="82008" bIns="7184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 4 hours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EA0E51-86B3-B6FE-B0A1-BB19C8A407D0}"/>
              </a:ext>
            </a:extLst>
          </p:cNvPr>
          <p:cNvSpPr/>
          <p:nvPr/>
        </p:nvSpPr>
        <p:spPr>
          <a:xfrm>
            <a:off x="7757315" y="2564345"/>
            <a:ext cx="1627096" cy="1630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Withing 4 hours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623CCC-F50D-BE43-66E6-8D356BF5CD5F}"/>
              </a:ext>
            </a:extLst>
          </p:cNvPr>
          <p:cNvSpPr/>
          <p:nvPr/>
        </p:nvSpPr>
        <p:spPr>
          <a:xfrm>
            <a:off x="7757315" y="4657101"/>
            <a:ext cx="1627096" cy="161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008" tIns="71848" rIns="82008" bIns="7184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 1 Business day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600084-0B1E-6B68-B7F7-112B64C57B4E}"/>
              </a:ext>
            </a:extLst>
          </p:cNvPr>
          <p:cNvSpPr/>
          <p:nvPr/>
        </p:nvSpPr>
        <p:spPr>
          <a:xfrm>
            <a:off x="9977529" y="2564345"/>
            <a:ext cx="1627096" cy="1630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088" tIns="75658" rIns="87088" bIns="7565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>
                <a:solidFill>
                  <a:schemeClr val="bg1"/>
                </a:solidFill>
              </a:rPr>
              <a:t>Within 1 Business day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3A5DF49-9647-E302-BB5E-80EDB608A8B6}"/>
              </a:ext>
            </a:extLst>
          </p:cNvPr>
          <p:cNvSpPr/>
          <p:nvPr/>
        </p:nvSpPr>
        <p:spPr>
          <a:xfrm>
            <a:off x="9977529" y="4657101"/>
            <a:ext cx="1627096" cy="161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008" tIns="71848" rIns="82008" bIns="7184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1" kern="1200" dirty="0">
                <a:solidFill>
                  <a:schemeClr val="bg1"/>
                </a:solidFill>
              </a:rPr>
              <a:t>Within 5 Business days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64EA72-4A1F-2538-FF12-7F440B386E59}"/>
              </a:ext>
            </a:extLst>
          </p:cNvPr>
          <p:cNvCxnSpPr>
            <a:cxnSpLocks/>
          </p:cNvCxnSpPr>
          <p:nvPr/>
        </p:nvCxnSpPr>
        <p:spPr>
          <a:xfrm flipH="1">
            <a:off x="3110207" y="4316587"/>
            <a:ext cx="84944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75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780230"/>
      </p:ext>
    </p:extLst>
  </p:cSld>
  <p:clrMapOvr>
    <a:masterClrMapping/>
  </p:clrMapOvr>
</p:sld>
</file>

<file path=ppt/theme/theme1.xml><?xml version="1.0" encoding="utf-8"?>
<a:theme xmlns:a="http://schemas.openxmlformats.org/drawingml/2006/main" name="1_pro-proposal-deck-ppt-theme-0723">
  <a:themeElements>
    <a:clrScheme name="pro-proposal-deck-ppt-theme-0723">
      <a:dk1>
        <a:srgbClr val="000000"/>
      </a:dk1>
      <a:lt1>
        <a:srgbClr val="FFFFFF"/>
      </a:lt1>
      <a:dk2>
        <a:srgbClr val="3B3D3E"/>
      </a:dk2>
      <a:lt2>
        <a:srgbClr val="C7C9C6"/>
      </a:lt2>
      <a:accent1>
        <a:srgbClr val="004068"/>
      </a:accent1>
      <a:accent2>
        <a:srgbClr val="00A2B8"/>
      </a:accent2>
      <a:accent3>
        <a:srgbClr val="5D7B9A"/>
      </a:accent3>
      <a:accent4>
        <a:srgbClr val="809FB3"/>
      </a:accent4>
      <a:accent5>
        <a:srgbClr val="80D0DB"/>
      </a:accent5>
      <a:accent6>
        <a:srgbClr val="EA7024"/>
      </a:accent6>
      <a:hlink>
        <a:srgbClr val="5D7B9A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tiviti Global Template" id="{BE5A21BE-7BC9-4A78-AE2D-E8DA4A231CF0}" vid="{FE242E4D-B399-4ADE-81F5-88E97E5CA0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B6D4DE-02AE-490A-A27F-72A576D15696}">
  <we:reference id="c53855d0-2569-4e75-a142-ac5f1e743eff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399df4-252f-4ad4-8546-f618f7b476d6">
      <Terms xmlns="http://schemas.microsoft.com/office/infopath/2007/PartnerControls"/>
    </lcf76f155ced4ddcb4097134ff3c332f>
    <Time xmlns="3f399df4-252f-4ad4-8546-f618f7b476d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4A7101AA7DF41B15D35B811240273" ma:contentTypeVersion="18" ma:contentTypeDescription="Create a new document." ma:contentTypeScope="" ma:versionID="69acc5dc5c32b3d8c6dfec011bf0f073">
  <xsd:schema xmlns:xsd="http://www.w3.org/2001/XMLSchema" xmlns:xs="http://www.w3.org/2001/XMLSchema" xmlns:p="http://schemas.microsoft.com/office/2006/metadata/properties" xmlns:ns2="3f399df4-252f-4ad4-8546-f618f7b476d6" xmlns:ns3="31adb7bc-0f0f-4f14-a835-8b4c52552263" targetNamespace="http://schemas.microsoft.com/office/2006/metadata/properties" ma:root="true" ma:fieldsID="37002dc6f0d3baea1e4b727adecca7ae" ns2:_="" ns3:_="">
    <xsd:import namespace="3f399df4-252f-4ad4-8546-f618f7b476d6"/>
    <xsd:import namespace="31adb7bc-0f0f-4f14-a835-8b4c525522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399df4-252f-4ad4-8546-f618f7b476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e8f6321-3efa-45d8-abfe-eea1c039a7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Time" ma:index="24" nillable="true" ma:displayName="Time" ma:format="DateTime" ma:internalName="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db7bc-0f0f-4f14-a835-8b4c5255226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3B466F-74C0-4791-91BF-0CD6DF943888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31adb7bc-0f0f-4f14-a835-8b4c52552263"/>
    <ds:schemaRef ds:uri="3f399df4-252f-4ad4-8546-f618f7b476d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9D12033-F279-4677-885E-1A3F44FCE6ED}"/>
</file>

<file path=customXml/itemProps3.xml><?xml version="1.0" encoding="utf-8"?>
<ds:datastoreItem xmlns:ds="http://schemas.openxmlformats.org/officeDocument/2006/customXml" ds:itemID="{E7A85104-46A1-4AAC-AB48-2AC95851B31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  <clbl:label id="{da623df2-7a25-4a8f-b59b-3a3459c1375f}" enabled="1" method="Standard" siteId="{16532572-d567-4d67-8727-f12f7bb6aed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SSP Presentation Base Template</Template>
  <TotalTime>10173</TotalTime>
  <Words>1149</Words>
  <Application>Microsoft Office PowerPoint</Application>
  <PresentationFormat>Widescreen</PresentationFormat>
  <Paragraphs>197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Barlow Condensed</vt:lpstr>
      <vt:lpstr>Barlow Condensed Light</vt:lpstr>
      <vt:lpstr>Barlow Condensed Medium</vt:lpstr>
      <vt:lpstr>Calibri</vt:lpstr>
      <vt:lpstr>1_pro-proposal-deck-ppt-theme-0723</vt:lpstr>
      <vt:lpstr>PowerPoint Presentation</vt:lpstr>
      <vt:lpstr>Agenda</vt:lpstr>
      <vt:lpstr>Support Coverage</vt:lpstr>
      <vt:lpstr>Proposed Approach</vt:lpstr>
      <vt:lpstr>Indicative - In Scope Activities - Protiviti</vt:lpstr>
      <vt:lpstr>Indicative - In Scope Activities - Protiviti</vt:lpstr>
      <vt:lpstr>In Scope Activities – CDI Team</vt:lpstr>
      <vt:lpstr>In Scope Activities - ISO</vt:lpstr>
      <vt:lpstr>Out of Scope Activities</vt:lpstr>
      <vt:lpstr>Support Approach</vt:lpstr>
      <vt:lpstr>Service Desk Reporting</vt:lpstr>
      <vt:lpstr>Communication Channels</vt:lpstr>
      <vt:lpstr>Priority of Incidents – Definition</vt:lpstr>
      <vt:lpstr>Service Levels – Response/Resolution Time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SSP - Operational Readiness</dc:title>
  <dc:creator>Manoj Bhatia</dc:creator>
  <cp:lastModifiedBy>Gupta, Vishal (UK)</cp:lastModifiedBy>
  <cp:revision>2</cp:revision>
  <dcterms:created xsi:type="dcterms:W3CDTF">2024-10-24T10:11:49Z</dcterms:created>
  <dcterms:modified xsi:type="dcterms:W3CDTF">2025-09-24T13:38:33Z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0x0101004184A7101AA7DF41B15D35B811240273</vt:lpwstr>
  </property>
</Properties>
</file>